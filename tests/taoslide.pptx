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64" r:id="rId2"/>
    <p:sldId id="267" r:id="rId3"/>
    <p:sldId id="4309" r:id="rId4"/>
    <p:sldId id="4310" r:id="rId5"/>
    <p:sldId id="431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5" autoAdjust="0"/>
    <p:restoredTop sz="94660"/>
  </p:normalViewPr>
  <p:slideViewPr>
    <p:cSldViewPr snapToGrid="0">
      <p:cViewPr varScale="1">
        <p:scale>
          <a:sx n="83" d="100"/>
          <a:sy n="83" d="100"/>
        </p:scale>
        <p:origin x="54"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F17AB7-F47E-4397-8F65-79FAEED6DFFF}" type="datetimeFigureOut">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6EE6BA-459E-4932-82F6-B87D0496F56B}" type="slidenum">
              <a:rPr lang="en-US" smtClean="0"/>
              <a:t>‹#›</a:t>
            </a:fld>
            <a:endParaRPr lang="en-US"/>
          </a:p>
        </p:txBody>
      </p:sp>
    </p:spTree>
    <p:extLst>
      <p:ext uri="{BB962C8B-B14F-4D97-AF65-F5344CB8AC3E}">
        <p14:creationId xmlns:p14="http://schemas.microsoft.com/office/powerpoint/2010/main" val="1372109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2DD1E-900C-3161-48C4-DFE302C78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51406F-8EFA-CA66-377E-C55FCDBFD68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815EE68-982C-7040-70EB-1B857EEFE18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8634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2600E-1FEB-75E3-4431-AB7F59AD8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048513-D415-26E9-A18A-7F09A6EFC31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817C094-51A4-E4F9-74C6-C0B9CD56E3F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88183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E96CF-ED16-D7BE-C304-8C3F025F4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594F6-029C-21EA-3B65-81AF3A0FABD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7494FFE-4E31-FBC7-630B-701F2CAC241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50901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D05C2-F699-408F-AD2F-0F4AED27D0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C5F4F23-A7C6-467F-A88B-A79E171A13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D42B74-F659-47F0-A183-49AB4D72D7FB}"/>
              </a:ext>
            </a:extLst>
          </p:cNvPr>
          <p:cNvSpPr>
            <a:spLocks noGrp="1"/>
          </p:cNvSpPr>
          <p:nvPr>
            <p:ph type="dt" sz="half" idx="10"/>
          </p:nvPr>
        </p:nvSpPr>
        <p:spPr/>
        <p:txBody>
          <a:bodyPr/>
          <a:lstStyle/>
          <a:p>
            <a:fld id="{87518CEC-DDD9-4DBA-A1C0-D6F22020D583}" type="datetimeFigureOut">
              <a:rPr lang="en-US" smtClean="0"/>
              <a:t>9/21/2026</a:t>
            </a:fld>
            <a:endParaRPr lang="en-US"/>
          </a:p>
        </p:txBody>
      </p:sp>
      <p:sp>
        <p:nvSpPr>
          <p:cNvPr id="5" name="Footer Placeholder 4">
            <a:extLst>
              <a:ext uri="{FF2B5EF4-FFF2-40B4-BE49-F238E27FC236}">
                <a16:creationId xmlns:a16="http://schemas.microsoft.com/office/drawing/2014/main" id="{5842247F-470C-404D-ACDB-3BC9A844E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BAA059-B2EB-4C5F-8653-C252AC9C921D}"/>
              </a:ext>
            </a:extLst>
          </p:cNvPr>
          <p:cNvSpPr>
            <a:spLocks noGrp="1"/>
          </p:cNvSpPr>
          <p:nvPr>
            <p:ph type="sldNum" sz="quarter" idx="12"/>
          </p:nvPr>
        </p:nvSpPr>
        <p:spPr/>
        <p:txBody>
          <a:bodyPr/>
          <a:lstStyle/>
          <a:p>
            <a:fld id="{4936520B-1EAC-4D95-A1AC-4F35809FDA55}" type="slidenum">
              <a:rPr lang="en-US" smtClean="0"/>
              <a:t>‹#›</a:t>
            </a:fld>
            <a:endParaRPr lang="en-US"/>
          </a:p>
        </p:txBody>
      </p:sp>
    </p:spTree>
    <p:extLst>
      <p:ext uri="{BB962C8B-B14F-4D97-AF65-F5344CB8AC3E}">
        <p14:creationId xmlns:p14="http://schemas.microsoft.com/office/powerpoint/2010/main" val="1012696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8E184-4A0B-47F1-B5AC-F98B2ACAA3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1D343A-A864-4AF9-ACC1-8CF0258C7D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8E47BA-C839-4354-AADD-86F1422C84D7}"/>
              </a:ext>
            </a:extLst>
          </p:cNvPr>
          <p:cNvSpPr>
            <a:spLocks noGrp="1"/>
          </p:cNvSpPr>
          <p:nvPr>
            <p:ph type="dt" sz="half" idx="10"/>
          </p:nvPr>
        </p:nvSpPr>
        <p:spPr/>
        <p:txBody>
          <a:bodyPr/>
          <a:lstStyle/>
          <a:p>
            <a:fld id="{87518CEC-DDD9-4DBA-A1C0-D6F22020D583}" type="datetimeFigureOut">
              <a:rPr lang="en-US" smtClean="0"/>
              <a:t>9/21/2026</a:t>
            </a:fld>
            <a:endParaRPr lang="en-US"/>
          </a:p>
        </p:txBody>
      </p:sp>
      <p:sp>
        <p:nvSpPr>
          <p:cNvPr id="5" name="Footer Placeholder 4">
            <a:extLst>
              <a:ext uri="{FF2B5EF4-FFF2-40B4-BE49-F238E27FC236}">
                <a16:creationId xmlns:a16="http://schemas.microsoft.com/office/drawing/2014/main" id="{A90036DF-E21D-4B56-804C-386D17034F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48DB58-94F3-4BDD-9315-236B4E103E4D}"/>
              </a:ext>
            </a:extLst>
          </p:cNvPr>
          <p:cNvSpPr>
            <a:spLocks noGrp="1"/>
          </p:cNvSpPr>
          <p:nvPr>
            <p:ph type="sldNum" sz="quarter" idx="12"/>
          </p:nvPr>
        </p:nvSpPr>
        <p:spPr/>
        <p:txBody>
          <a:bodyPr/>
          <a:lstStyle/>
          <a:p>
            <a:fld id="{4936520B-1EAC-4D95-A1AC-4F35809FDA55}" type="slidenum">
              <a:rPr lang="en-US" smtClean="0"/>
              <a:t>‹#›</a:t>
            </a:fld>
            <a:endParaRPr lang="en-US"/>
          </a:p>
        </p:txBody>
      </p:sp>
    </p:spTree>
    <p:extLst>
      <p:ext uri="{BB962C8B-B14F-4D97-AF65-F5344CB8AC3E}">
        <p14:creationId xmlns:p14="http://schemas.microsoft.com/office/powerpoint/2010/main" val="4032557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0E3A1-25E5-4EDD-BF4D-416EFA7F11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DEA609-7282-4D17-B2B8-60CE16C087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9887FB-AC46-4738-A820-329357EB41D9}"/>
              </a:ext>
            </a:extLst>
          </p:cNvPr>
          <p:cNvSpPr>
            <a:spLocks noGrp="1"/>
          </p:cNvSpPr>
          <p:nvPr>
            <p:ph type="dt" sz="half" idx="10"/>
          </p:nvPr>
        </p:nvSpPr>
        <p:spPr/>
        <p:txBody>
          <a:bodyPr/>
          <a:lstStyle/>
          <a:p>
            <a:fld id="{87518CEC-DDD9-4DBA-A1C0-D6F22020D583}" type="datetimeFigureOut">
              <a:rPr lang="en-US" smtClean="0"/>
              <a:t>9/21/2026</a:t>
            </a:fld>
            <a:endParaRPr lang="en-US"/>
          </a:p>
        </p:txBody>
      </p:sp>
      <p:sp>
        <p:nvSpPr>
          <p:cNvPr id="5" name="Footer Placeholder 4">
            <a:extLst>
              <a:ext uri="{FF2B5EF4-FFF2-40B4-BE49-F238E27FC236}">
                <a16:creationId xmlns:a16="http://schemas.microsoft.com/office/drawing/2014/main" id="{4A189928-C4F7-412B-9FCB-ABC2430566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6CC86-29DE-4894-9B87-68C572AD4CE8}"/>
              </a:ext>
            </a:extLst>
          </p:cNvPr>
          <p:cNvSpPr>
            <a:spLocks noGrp="1"/>
          </p:cNvSpPr>
          <p:nvPr>
            <p:ph type="sldNum" sz="quarter" idx="12"/>
          </p:nvPr>
        </p:nvSpPr>
        <p:spPr/>
        <p:txBody>
          <a:bodyPr/>
          <a:lstStyle/>
          <a:p>
            <a:fld id="{4936520B-1EAC-4D95-A1AC-4F35809FDA55}" type="slidenum">
              <a:rPr lang="en-US" smtClean="0"/>
              <a:t>‹#›</a:t>
            </a:fld>
            <a:endParaRPr lang="en-US"/>
          </a:p>
        </p:txBody>
      </p:sp>
    </p:spTree>
    <p:extLst>
      <p:ext uri="{BB962C8B-B14F-4D97-AF65-F5344CB8AC3E}">
        <p14:creationId xmlns:p14="http://schemas.microsoft.com/office/powerpoint/2010/main" val="3854018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33B82-D84E-47B2-863D-27BFCAEB02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8E289C-0F0A-40A2-887A-5B3341851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9516FF-00D7-408B-B2C5-6995D0F515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8E6BBF-5725-4936-9C48-774DAED0C3A4}"/>
              </a:ext>
            </a:extLst>
          </p:cNvPr>
          <p:cNvSpPr>
            <a:spLocks noGrp="1"/>
          </p:cNvSpPr>
          <p:nvPr>
            <p:ph type="dt" sz="half" idx="10"/>
          </p:nvPr>
        </p:nvSpPr>
        <p:spPr/>
        <p:txBody>
          <a:bodyPr/>
          <a:lstStyle/>
          <a:p>
            <a:fld id="{87518CEC-DDD9-4DBA-A1C0-D6F22020D583}" type="datetimeFigureOut">
              <a:rPr lang="en-US" smtClean="0"/>
              <a:t>9/21/2026</a:t>
            </a:fld>
            <a:endParaRPr lang="en-US"/>
          </a:p>
        </p:txBody>
      </p:sp>
      <p:sp>
        <p:nvSpPr>
          <p:cNvPr id="6" name="Footer Placeholder 5">
            <a:extLst>
              <a:ext uri="{FF2B5EF4-FFF2-40B4-BE49-F238E27FC236}">
                <a16:creationId xmlns:a16="http://schemas.microsoft.com/office/drawing/2014/main" id="{D24691F8-81CD-47F4-B9BC-1809B16191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47560A-4CC1-4A19-B5DF-C9B5A14DD033}"/>
              </a:ext>
            </a:extLst>
          </p:cNvPr>
          <p:cNvSpPr>
            <a:spLocks noGrp="1"/>
          </p:cNvSpPr>
          <p:nvPr>
            <p:ph type="sldNum" sz="quarter" idx="12"/>
          </p:nvPr>
        </p:nvSpPr>
        <p:spPr/>
        <p:txBody>
          <a:bodyPr/>
          <a:lstStyle/>
          <a:p>
            <a:fld id="{4936520B-1EAC-4D95-A1AC-4F35809FDA55}" type="slidenum">
              <a:rPr lang="en-US" smtClean="0"/>
              <a:t>‹#›</a:t>
            </a:fld>
            <a:endParaRPr lang="en-US"/>
          </a:p>
        </p:txBody>
      </p:sp>
    </p:spTree>
    <p:extLst>
      <p:ext uri="{BB962C8B-B14F-4D97-AF65-F5344CB8AC3E}">
        <p14:creationId xmlns:p14="http://schemas.microsoft.com/office/powerpoint/2010/main" val="4227205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BD87C-4429-4A25-80AE-4D4326A901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410A86-C6AD-4C76-AF6D-0E7E692A40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6CFD95-E9E8-4887-8927-3688DD64FA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6C3B5B-59EC-4072-8AC5-882143D9FC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6AA549-5B2F-4A1C-A314-F4C0720081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382982-9DC4-40F7-B642-CCF1CE9F1A64}"/>
              </a:ext>
            </a:extLst>
          </p:cNvPr>
          <p:cNvSpPr>
            <a:spLocks noGrp="1"/>
          </p:cNvSpPr>
          <p:nvPr>
            <p:ph type="dt" sz="half" idx="10"/>
          </p:nvPr>
        </p:nvSpPr>
        <p:spPr/>
        <p:txBody>
          <a:bodyPr/>
          <a:lstStyle/>
          <a:p>
            <a:fld id="{87518CEC-DDD9-4DBA-A1C0-D6F22020D583}" type="datetimeFigureOut">
              <a:rPr lang="en-US" smtClean="0"/>
              <a:t>9/21/2026</a:t>
            </a:fld>
            <a:endParaRPr lang="en-US"/>
          </a:p>
        </p:txBody>
      </p:sp>
      <p:sp>
        <p:nvSpPr>
          <p:cNvPr id="8" name="Footer Placeholder 7">
            <a:extLst>
              <a:ext uri="{FF2B5EF4-FFF2-40B4-BE49-F238E27FC236}">
                <a16:creationId xmlns:a16="http://schemas.microsoft.com/office/drawing/2014/main" id="{0474491C-02F0-44FF-89D3-BD627ED40B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874D8C-C59F-431D-83A1-673E2E8B77AC}"/>
              </a:ext>
            </a:extLst>
          </p:cNvPr>
          <p:cNvSpPr>
            <a:spLocks noGrp="1"/>
          </p:cNvSpPr>
          <p:nvPr>
            <p:ph type="sldNum" sz="quarter" idx="12"/>
          </p:nvPr>
        </p:nvSpPr>
        <p:spPr/>
        <p:txBody>
          <a:bodyPr/>
          <a:lstStyle/>
          <a:p>
            <a:fld id="{4936520B-1EAC-4D95-A1AC-4F35809FDA55}" type="slidenum">
              <a:rPr lang="en-US" smtClean="0"/>
              <a:t>‹#›</a:t>
            </a:fld>
            <a:endParaRPr lang="en-US"/>
          </a:p>
        </p:txBody>
      </p:sp>
    </p:spTree>
    <p:extLst>
      <p:ext uri="{BB962C8B-B14F-4D97-AF65-F5344CB8AC3E}">
        <p14:creationId xmlns:p14="http://schemas.microsoft.com/office/powerpoint/2010/main" val="3156254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CD269-62BA-4DA6-9822-5B941D0987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3382C46-543B-4935-BD8D-5CACD2C21950}"/>
              </a:ext>
            </a:extLst>
          </p:cNvPr>
          <p:cNvSpPr>
            <a:spLocks noGrp="1"/>
          </p:cNvSpPr>
          <p:nvPr>
            <p:ph type="dt" sz="half" idx="10"/>
          </p:nvPr>
        </p:nvSpPr>
        <p:spPr/>
        <p:txBody>
          <a:bodyPr/>
          <a:lstStyle/>
          <a:p>
            <a:fld id="{87518CEC-DDD9-4DBA-A1C0-D6F22020D583}" type="datetimeFigureOut">
              <a:rPr lang="en-US" smtClean="0"/>
              <a:t>9/21/2026</a:t>
            </a:fld>
            <a:endParaRPr lang="en-US"/>
          </a:p>
        </p:txBody>
      </p:sp>
      <p:sp>
        <p:nvSpPr>
          <p:cNvPr id="4" name="Footer Placeholder 3">
            <a:extLst>
              <a:ext uri="{FF2B5EF4-FFF2-40B4-BE49-F238E27FC236}">
                <a16:creationId xmlns:a16="http://schemas.microsoft.com/office/drawing/2014/main" id="{763E8126-70B7-4AB3-AE5C-EF41D2537B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1C1C0E-412A-444A-B9D6-9E4806F175FF}"/>
              </a:ext>
            </a:extLst>
          </p:cNvPr>
          <p:cNvSpPr>
            <a:spLocks noGrp="1"/>
          </p:cNvSpPr>
          <p:nvPr>
            <p:ph type="sldNum" sz="quarter" idx="12"/>
          </p:nvPr>
        </p:nvSpPr>
        <p:spPr/>
        <p:txBody>
          <a:bodyPr/>
          <a:lstStyle/>
          <a:p>
            <a:fld id="{4936520B-1EAC-4D95-A1AC-4F35809FDA55}" type="slidenum">
              <a:rPr lang="en-US" smtClean="0"/>
              <a:t>‹#›</a:t>
            </a:fld>
            <a:endParaRPr lang="en-US"/>
          </a:p>
        </p:txBody>
      </p:sp>
    </p:spTree>
    <p:extLst>
      <p:ext uri="{BB962C8B-B14F-4D97-AF65-F5344CB8AC3E}">
        <p14:creationId xmlns:p14="http://schemas.microsoft.com/office/powerpoint/2010/main" val="746997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DAD5F5-BA54-486B-9FDF-D2F40A9F1D86}"/>
              </a:ext>
            </a:extLst>
          </p:cNvPr>
          <p:cNvSpPr>
            <a:spLocks noGrp="1"/>
          </p:cNvSpPr>
          <p:nvPr>
            <p:ph type="dt" sz="half" idx="10"/>
          </p:nvPr>
        </p:nvSpPr>
        <p:spPr/>
        <p:txBody>
          <a:bodyPr/>
          <a:lstStyle/>
          <a:p>
            <a:fld id="{87518CEC-DDD9-4DBA-A1C0-D6F22020D583}" type="datetimeFigureOut">
              <a:rPr lang="en-US" smtClean="0"/>
              <a:t>9/21/2026</a:t>
            </a:fld>
            <a:endParaRPr lang="en-US"/>
          </a:p>
        </p:txBody>
      </p:sp>
      <p:sp>
        <p:nvSpPr>
          <p:cNvPr id="3" name="Footer Placeholder 2">
            <a:extLst>
              <a:ext uri="{FF2B5EF4-FFF2-40B4-BE49-F238E27FC236}">
                <a16:creationId xmlns:a16="http://schemas.microsoft.com/office/drawing/2014/main" id="{E59061BC-1724-45D5-BCA6-5E09D5938D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A5DB9F-D449-4C20-86CE-8EE0A954B4BF}"/>
              </a:ext>
            </a:extLst>
          </p:cNvPr>
          <p:cNvSpPr>
            <a:spLocks noGrp="1"/>
          </p:cNvSpPr>
          <p:nvPr>
            <p:ph type="sldNum" sz="quarter" idx="12"/>
          </p:nvPr>
        </p:nvSpPr>
        <p:spPr/>
        <p:txBody>
          <a:bodyPr/>
          <a:lstStyle/>
          <a:p>
            <a:fld id="{4936520B-1EAC-4D95-A1AC-4F35809FDA55}" type="slidenum">
              <a:rPr lang="en-US" smtClean="0"/>
              <a:t>‹#›</a:t>
            </a:fld>
            <a:endParaRPr lang="en-US"/>
          </a:p>
        </p:txBody>
      </p:sp>
    </p:spTree>
    <p:extLst>
      <p:ext uri="{BB962C8B-B14F-4D97-AF65-F5344CB8AC3E}">
        <p14:creationId xmlns:p14="http://schemas.microsoft.com/office/powerpoint/2010/main" val="2656857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31168-44E3-4D45-B0BE-8A7E138AE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BC5BA6-568A-4836-BD96-5FD5B88221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9A14BC-9F88-4424-B107-A841624D18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BBA644-C90E-43E1-ADBA-0E3B2DA1CA87}"/>
              </a:ext>
            </a:extLst>
          </p:cNvPr>
          <p:cNvSpPr>
            <a:spLocks noGrp="1"/>
          </p:cNvSpPr>
          <p:nvPr>
            <p:ph type="dt" sz="half" idx="10"/>
          </p:nvPr>
        </p:nvSpPr>
        <p:spPr/>
        <p:txBody>
          <a:bodyPr/>
          <a:lstStyle/>
          <a:p>
            <a:fld id="{87518CEC-DDD9-4DBA-A1C0-D6F22020D583}" type="datetimeFigureOut">
              <a:rPr lang="en-US" smtClean="0"/>
              <a:t>9/21/2026</a:t>
            </a:fld>
            <a:endParaRPr lang="en-US"/>
          </a:p>
        </p:txBody>
      </p:sp>
      <p:sp>
        <p:nvSpPr>
          <p:cNvPr id="6" name="Footer Placeholder 5">
            <a:extLst>
              <a:ext uri="{FF2B5EF4-FFF2-40B4-BE49-F238E27FC236}">
                <a16:creationId xmlns:a16="http://schemas.microsoft.com/office/drawing/2014/main" id="{00B8F54A-4E25-47CA-83D0-F1F017E0DD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CBD96A-0A6F-41B9-BFFE-839A7B5A6E6A}"/>
              </a:ext>
            </a:extLst>
          </p:cNvPr>
          <p:cNvSpPr>
            <a:spLocks noGrp="1"/>
          </p:cNvSpPr>
          <p:nvPr>
            <p:ph type="sldNum" sz="quarter" idx="12"/>
          </p:nvPr>
        </p:nvSpPr>
        <p:spPr/>
        <p:txBody>
          <a:bodyPr/>
          <a:lstStyle/>
          <a:p>
            <a:fld id="{4936520B-1EAC-4D95-A1AC-4F35809FDA55}" type="slidenum">
              <a:rPr lang="en-US" smtClean="0"/>
              <a:t>‹#›</a:t>
            </a:fld>
            <a:endParaRPr lang="en-US"/>
          </a:p>
        </p:txBody>
      </p:sp>
    </p:spTree>
    <p:extLst>
      <p:ext uri="{BB962C8B-B14F-4D97-AF65-F5344CB8AC3E}">
        <p14:creationId xmlns:p14="http://schemas.microsoft.com/office/powerpoint/2010/main" val="472928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8123-DF7B-4786-A345-075C5B3A04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27E04A-45EE-4224-B88B-166D62FADD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ECA940-A2B0-4B0E-B2E7-30AEEFFD52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960744-01BB-4253-8DC5-E9BAC681F20B}"/>
              </a:ext>
            </a:extLst>
          </p:cNvPr>
          <p:cNvSpPr>
            <a:spLocks noGrp="1"/>
          </p:cNvSpPr>
          <p:nvPr>
            <p:ph type="dt" sz="half" idx="10"/>
          </p:nvPr>
        </p:nvSpPr>
        <p:spPr/>
        <p:txBody>
          <a:bodyPr/>
          <a:lstStyle/>
          <a:p>
            <a:fld id="{87518CEC-DDD9-4DBA-A1C0-D6F22020D583}" type="datetimeFigureOut">
              <a:rPr lang="en-US" smtClean="0"/>
              <a:t>9/21/2026</a:t>
            </a:fld>
            <a:endParaRPr lang="en-US"/>
          </a:p>
        </p:txBody>
      </p:sp>
      <p:sp>
        <p:nvSpPr>
          <p:cNvPr id="6" name="Footer Placeholder 5">
            <a:extLst>
              <a:ext uri="{FF2B5EF4-FFF2-40B4-BE49-F238E27FC236}">
                <a16:creationId xmlns:a16="http://schemas.microsoft.com/office/drawing/2014/main" id="{DA7BB8B3-CF5C-4DF5-ABD7-18F62CE5D5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3D9530-9F1D-4DD1-8895-65980439F668}"/>
              </a:ext>
            </a:extLst>
          </p:cNvPr>
          <p:cNvSpPr>
            <a:spLocks noGrp="1"/>
          </p:cNvSpPr>
          <p:nvPr>
            <p:ph type="sldNum" sz="quarter" idx="12"/>
          </p:nvPr>
        </p:nvSpPr>
        <p:spPr/>
        <p:txBody>
          <a:bodyPr/>
          <a:lstStyle/>
          <a:p>
            <a:fld id="{4936520B-1EAC-4D95-A1AC-4F35809FDA55}" type="slidenum">
              <a:rPr lang="en-US" smtClean="0"/>
              <a:t>‹#›</a:t>
            </a:fld>
            <a:endParaRPr lang="en-US"/>
          </a:p>
        </p:txBody>
      </p:sp>
    </p:spTree>
    <p:extLst>
      <p:ext uri="{BB962C8B-B14F-4D97-AF65-F5344CB8AC3E}">
        <p14:creationId xmlns:p14="http://schemas.microsoft.com/office/powerpoint/2010/main" val="565247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8D753-ED2C-4D9E-843B-4FB342216C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B2834E-02BF-4688-AE97-832E6B9890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400A82-F182-4401-9F6A-9DE63E081A77}"/>
              </a:ext>
            </a:extLst>
          </p:cNvPr>
          <p:cNvSpPr>
            <a:spLocks noGrp="1"/>
          </p:cNvSpPr>
          <p:nvPr>
            <p:ph type="dt" sz="half" idx="10"/>
          </p:nvPr>
        </p:nvSpPr>
        <p:spPr/>
        <p:txBody>
          <a:bodyPr/>
          <a:lstStyle/>
          <a:p>
            <a:fld id="{87518CEC-DDD9-4DBA-A1C0-D6F22020D583}" type="datetimeFigureOut">
              <a:rPr lang="en-US" smtClean="0"/>
              <a:t>9/21/2026</a:t>
            </a:fld>
            <a:endParaRPr lang="en-US"/>
          </a:p>
        </p:txBody>
      </p:sp>
      <p:sp>
        <p:nvSpPr>
          <p:cNvPr id="5" name="Footer Placeholder 4">
            <a:extLst>
              <a:ext uri="{FF2B5EF4-FFF2-40B4-BE49-F238E27FC236}">
                <a16:creationId xmlns:a16="http://schemas.microsoft.com/office/drawing/2014/main" id="{298D679A-C256-4425-8AE5-3283EA5EBD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E289FD-53CA-43B9-992D-A3906C681E0E}"/>
              </a:ext>
            </a:extLst>
          </p:cNvPr>
          <p:cNvSpPr>
            <a:spLocks noGrp="1"/>
          </p:cNvSpPr>
          <p:nvPr>
            <p:ph type="sldNum" sz="quarter" idx="12"/>
          </p:nvPr>
        </p:nvSpPr>
        <p:spPr/>
        <p:txBody>
          <a:bodyPr/>
          <a:lstStyle/>
          <a:p>
            <a:fld id="{4936520B-1EAC-4D95-A1AC-4F35809FDA55}" type="slidenum">
              <a:rPr lang="en-US" smtClean="0"/>
              <a:t>‹#›</a:t>
            </a:fld>
            <a:endParaRPr lang="en-US"/>
          </a:p>
        </p:txBody>
      </p:sp>
    </p:spTree>
    <p:extLst>
      <p:ext uri="{BB962C8B-B14F-4D97-AF65-F5344CB8AC3E}">
        <p14:creationId xmlns:p14="http://schemas.microsoft.com/office/powerpoint/2010/main" val="1229161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CFF68C-9CA6-476A-A742-74035AFF78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B19DD2-8C19-410C-8DC1-F568FE0AD2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5246BE-348D-4F3F-B9C4-9D511284C3F5}"/>
              </a:ext>
            </a:extLst>
          </p:cNvPr>
          <p:cNvSpPr>
            <a:spLocks noGrp="1"/>
          </p:cNvSpPr>
          <p:nvPr>
            <p:ph type="dt" sz="half" idx="10"/>
          </p:nvPr>
        </p:nvSpPr>
        <p:spPr/>
        <p:txBody>
          <a:bodyPr/>
          <a:lstStyle/>
          <a:p>
            <a:fld id="{87518CEC-DDD9-4DBA-A1C0-D6F22020D583}" type="datetimeFigureOut">
              <a:rPr lang="en-US" smtClean="0"/>
              <a:t>9/21/2026</a:t>
            </a:fld>
            <a:endParaRPr lang="en-US"/>
          </a:p>
        </p:txBody>
      </p:sp>
      <p:sp>
        <p:nvSpPr>
          <p:cNvPr id="5" name="Footer Placeholder 4">
            <a:extLst>
              <a:ext uri="{FF2B5EF4-FFF2-40B4-BE49-F238E27FC236}">
                <a16:creationId xmlns:a16="http://schemas.microsoft.com/office/drawing/2014/main" id="{DAC1D0AD-5E27-431D-86DC-8D8AE8BA27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8E851F-CF44-4EB4-87AA-FBC783973937}"/>
              </a:ext>
            </a:extLst>
          </p:cNvPr>
          <p:cNvSpPr>
            <a:spLocks noGrp="1"/>
          </p:cNvSpPr>
          <p:nvPr>
            <p:ph type="sldNum" sz="quarter" idx="12"/>
          </p:nvPr>
        </p:nvSpPr>
        <p:spPr/>
        <p:txBody>
          <a:bodyPr/>
          <a:lstStyle/>
          <a:p>
            <a:fld id="{4936520B-1EAC-4D95-A1AC-4F35809FDA55}" type="slidenum">
              <a:rPr lang="en-US" smtClean="0"/>
              <a:t>‹#›</a:t>
            </a:fld>
            <a:endParaRPr lang="en-US"/>
          </a:p>
        </p:txBody>
      </p:sp>
    </p:spTree>
    <p:extLst>
      <p:ext uri="{BB962C8B-B14F-4D97-AF65-F5344CB8AC3E}">
        <p14:creationId xmlns:p14="http://schemas.microsoft.com/office/powerpoint/2010/main" val="3939774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3102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88731A-3CCE-4029-B470-96186B80AF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100F93-577B-4A2A-A22A-0AF4045E67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0D044C-287D-4C82-9C92-17F651A1F9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518CEC-DDD9-4DBA-A1C0-D6F22020D583}" type="datetimeFigureOut">
              <a:rPr lang="en-US" smtClean="0"/>
              <a:t>9/21/2026</a:t>
            </a:fld>
            <a:endParaRPr lang="en-US"/>
          </a:p>
        </p:txBody>
      </p:sp>
      <p:sp>
        <p:nvSpPr>
          <p:cNvPr id="5" name="Footer Placeholder 4">
            <a:extLst>
              <a:ext uri="{FF2B5EF4-FFF2-40B4-BE49-F238E27FC236}">
                <a16:creationId xmlns:a16="http://schemas.microsoft.com/office/drawing/2014/main" id="{211E8C76-8778-4D97-81DF-1B5BD83829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97F5657-A604-47E5-B7CB-7CB9644605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36520B-1EAC-4D95-A1AC-4F35809FDA55}" type="slidenum">
              <a:rPr lang="en-US" smtClean="0"/>
              <a:t>‹#›</a:t>
            </a:fld>
            <a:endParaRPr lang="en-US"/>
          </a:p>
        </p:txBody>
      </p:sp>
    </p:spTree>
    <p:extLst>
      <p:ext uri="{BB962C8B-B14F-4D97-AF65-F5344CB8AC3E}">
        <p14:creationId xmlns:p14="http://schemas.microsoft.com/office/powerpoint/2010/main" val="1235887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1.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60" dirty="0">
                <a:solidFill>
                  <a:srgbClr val="EE0033"/>
                </a:solidFill>
                <a:latin typeface="Tahoma" pitchFamily="34" charset="0"/>
                <a:ea typeface="Tahoma" pitchFamily="34" charset="-122"/>
                <a:cs typeface="Tahoma" pitchFamily="34" charset="-120"/>
              </a:rPr>
              <a:t>KIẾN TRÚC · ĐỊNH VỊ</a:t>
            </a:r>
            <a:endParaRPr lang="en-US" sz="1050" dirty="0"/>
          </a:p>
        </p:txBody>
      </p:sp>
      <p:sp>
        <p:nvSpPr>
          <p:cNvPr id="3" name="Text 1"/>
          <p:cNvSpPr/>
          <p:nvPr/>
        </p:nvSpPr>
        <p:spPr>
          <a:xfrm>
            <a:off x="640080" y="640080"/>
            <a:ext cx="10911535" cy="566928"/>
          </a:xfrm>
          <a:prstGeom prst="rect">
            <a:avLst/>
          </a:prstGeom>
          <a:noFill/>
          <a:ln/>
        </p:spPr>
        <p:txBody>
          <a:bodyPr wrap="square" lIns="0" tIns="0" rIns="0" bIns="0" rtlCol="0" anchor="t"/>
          <a:lstStyle/>
          <a:p>
            <a:pPr marL="0" indent="0">
              <a:buNone/>
            </a:pPr>
            <a:r>
              <a:rPr lang="en-US" sz="2450" b="1" dirty="0">
                <a:solidFill>
                  <a:srgbClr val="15171D"/>
                </a:solidFill>
                <a:latin typeface="Tahoma" pitchFamily="34" charset="0"/>
                <a:ea typeface="Tahoma" pitchFamily="34" charset="-122"/>
                <a:cs typeface="Tahoma" pitchFamily="34" charset="-120"/>
              </a:rPr>
              <a:t>Model as a Service: AI đến với doanh nghiệp qua một API</a:t>
            </a:r>
            <a:endParaRPr lang="en-US" sz="2450" dirty="0"/>
          </a:p>
        </p:txBody>
      </p:sp>
      <p:sp>
        <p:nvSpPr>
          <p:cNvPr id="4" name="Text 2"/>
          <p:cNvSpPr/>
          <p:nvPr/>
        </p:nvSpPr>
        <p:spPr>
          <a:xfrm>
            <a:off x="640080" y="1243584"/>
            <a:ext cx="10038612" cy="384048"/>
          </a:xfrm>
          <a:prstGeom prst="rect">
            <a:avLst/>
          </a:prstGeom>
          <a:noFill/>
          <a:ln/>
        </p:spPr>
        <p:txBody>
          <a:bodyPr wrap="square" lIns="0" tIns="0" rIns="0" bIns="0" rtlCol="0" anchor="t"/>
          <a:lstStyle/>
          <a:p>
            <a:pPr marL="0" indent="0">
              <a:buNone/>
            </a:pPr>
            <a:r>
              <a:rPr lang="en-US" sz="1350" dirty="0">
                <a:solidFill>
                  <a:srgbClr val="757B8B"/>
                </a:solidFill>
                <a:latin typeface="Tahoma" pitchFamily="34" charset="0"/>
                <a:ea typeface="Tahoma" pitchFamily="34" charset="-122"/>
                <a:cs typeface="Tahoma" pitchFamily="34" charset="-120"/>
              </a:rPr>
              <a:t>AI Model Hub là nền tảng quản lý và vận hành các mô hình trí tuệ nhân tạo, cho phép khai thác sức mạnh mô hình AI thông qua giao thức API chuẩn hóa.</a:t>
            </a:r>
            <a:endParaRPr lang="en-US" sz="1350" dirty="0"/>
          </a:p>
        </p:txBody>
      </p:sp>
      <p:sp>
        <p:nvSpPr>
          <p:cNvPr id="5" name="Shape 3"/>
          <p:cNvSpPr/>
          <p:nvPr/>
        </p:nvSpPr>
        <p:spPr>
          <a:xfrm>
            <a:off x="640080" y="2121408"/>
            <a:ext cx="3259226" cy="2286000"/>
          </a:xfrm>
          <a:prstGeom prst="roundRect">
            <a:avLst>
              <a:gd name="adj" fmla="val 2400"/>
            </a:avLst>
          </a:prstGeom>
          <a:solidFill>
            <a:srgbClr val="F4F5F7"/>
          </a:solidFill>
          <a:ln/>
        </p:spPr>
        <p:txBody>
          <a:bodyPr/>
          <a:lstStyle/>
          <a:p>
            <a:endParaRPr lang="en-VN"/>
          </a:p>
        </p:txBody>
      </p:sp>
      <p:sp>
        <p:nvSpPr>
          <p:cNvPr id="6" name="Shape 4"/>
          <p:cNvSpPr/>
          <p:nvPr/>
        </p:nvSpPr>
        <p:spPr>
          <a:xfrm>
            <a:off x="950976" y="2450592"/>
            <a:ext cx="585216" cy="585216"/>
          </a:xfrm>
          <a:prstGeom prst="ellipse">
            <a:avLst/>
          </a:prstGeom>
          <a:solidFill>
            <a:srgbClr val="15171D"/>
          </a:solidFill>
          <a:ln/>
        </p:spPr>
        <p:txBody>
          <a:bodyPr/>
          <a:lstStyle/>
          <a:p>
            <a:endParaRPr lang="en-VN"/>
          </a:p>
        </p:txBody>
      </p:sp>
      <p:pic>
        <p:nvPicPr>
          <p:cNvPr id="7" name="Image 0" descr="/home/claude/build/icons/FaSitemap_w.png"/>
          <p:cNvPicPr>
            <a:picLocks noChangeAspect="1"/>
          </p:cNvPicPr>
          <p:nvPr/>
        </p:nvPicPr>
        <p:blipFill>
          <a:blip r:embed="rId3"/>
          <a:stretch>
            <a:fillRect/>
          </a:stretch>
        </p:blipFill>
        <p:spPr>
          <a:xfrm>
            <a:off x="1103132" y="2602748"/>
            <a:ext cx="280904" cy="280904"/>
          </a:xfrm>
          <a:prstGeom prst="rect">
            <a:avLst/>
          </a:prstGeom>
        </p:spPr>
      </p:pic>
      <p:sp>
        <p:nvSpPr>
          <p:cNvPr id="8" name="Text 5"/>
          <p:cNvSpPr/>
          <p:nvPr/>
        </p:nvSpPr>
        <p:spPr>
          <a:xfrm>
            <a:off x="950976" y="3182112"/>
            <a:ext cx="2637434" cy="566928"/>
          </a:xfrm>
          <a:prstGeom prst="rect">
            <a:avLst/>
          </a:prstGeom>
          <a:noFill/>
          <a:ln/>
        </p:spPr>
        <p:txBody>
          <a:bodyPr wrap="square" lIns="0" tIns="0" rIns="0" bIns="0" rtlCol="0" anchor="t"/>
          <a:lstStyle/>
          <a:p>
            <a:pPr marL="0" indent="0">
              <a:lnSpc>
                <a:spcPts val="2000"/>
              </a:lnSpc>
              <a:buNone/>
            </a:pPr>
            <a:r>
              <a:rPr lang="en-US" sz="1500" b="1" dirty="0">
                <a:solidFill>
                  <a:srgbClr val="15171D"/>
                </a:solidFill>
                <a:latin typeface="Tahoma" pitchFamily="34" charset="0"/>
                <a:ea typeface="Tahoma" pitchFamily="34" charset="-122"/>
                <a:cs typeface="Tahoma" pitchFamily="34" charset="-120"/>
              </a:rPr>
              <a:t>Hệ thống của doanh nghiệp</a:t>
            </a:r>
            <a:endParaRPr lang="en-US" sz="1500" dirty="0"/>
          </a:p>
        </p:txBody>
      </p:sp>
      <p:sp>
        <p:nvSpPr>
          <p:cNvPr id="9" name="Text 6"/>
          <p:cNvSpPr/>
          <p:nvPr/>
        </p:nvSpPr>
        <p:spPr>
          <a:xfrm>
            <a:off x="950976" y="3785616"/>
            <a:ext cx="2637434" cy="566928"/>
          </a:xfrm>
          <a:prstGeom prst="rect">
            <a:avLst/>
          </a:prstGeom>
          <a:noFill/>
          <a:ln/>
        </p:spPr>
        <p:txBody>
          <a:bodyPr wrap="square" lIns="0" tIns="0" rIns="0" bIns="0" rtlCol="0" anchor="t"/>
          <a:lstStyle/>
          <a:p>
            <a:pPr marL="0" indent="0">
              <a:lnSpc>
                <a:spcPts val="1500"/>
              </a:lnSpc>
              <a:buNone/>
            </a:pPr>
            <a:r>
              <a:rPr lang="en-US" sz="1100" dirty="0">
                <a:solidFill>
                  <a:srgbClr val="3B3F4A"/>
                </a:solidFill>
                <a:latin typeface="Tahoma" pitchFamily="34" charset="0"/>
                <a:ea typeface="Tahoma" pitchFamily="34" charset="-122"/>
                <a:cs typeface="Tahoma" pitchFamily="34" charset="-120"/>
              </a:rPr>
              <a:t>Ứng dụng nghiệp vụ, hệ thống CNTT nội bộ, sản phẩm số đang vận hành</a:t>
            </a:r>
            <a:endParaRPr lang="en-US" sz="1100" dirty="0"/>
          </a:p>
        </p:txBody>
      </p:sp>
      <p:sp>
        <p:nvSpPr>
          <p:cNvPr id="10" name="Shape 7"/>
          <p:cNvSpPr/>
          <p:nvPr/>
        </p:nvSpPr>
        <p:spPr>
          <a:xfrm>
            <a:off x="4027322" y="3127248"/>
            <a:ext cx="310896" cy="274320"/>
          </a:xfrm>
          <a:prstGeom prst="rightArrow">
            <a:avLst/>
          </a:prstGeom>
          <a:solidFill>
            <a:srgbClr val="EE0033"/>
          </a:solidFill>
          <a:ln/>
        </p:spPr>
        <p:txBody>
          <a:bodyPr/>
          <a:lstStyle/>
          <a:p>
            <a:endParaRPr lang="en-VN"/>
          </a:p>
        </p:txBody>
      </p:sp>
      <p:sp>
        <p:nvSpPr>
          <p:cNvPr id="11" name="Shape 8"/>
          <p:cNvSpPr/>
          <p:nvPr/>
        </p:nvSpPr>
        <p:spPr>
          <a:xfrm>
            <a:off x="4466234" y="2121408"/>
            <a:ext cx="3259226" cy="2286000"/>
          </a:xfrm>
          <a:prstGeom prst="roundRect">
            <a:avLst>
              <a:gd name="adj" fmla="val 2400"/>
            </a:avLst>
          </a:prstGeom>
          <a:solidFill>
            <a:srgbClr val="F4F5F7"/>
          </a:solidFill>
          <a:ln/>
        </p:spPr>
        <p:txBody>
          <a:bodyPr/>
          <a:lstStyle/>
          <a:p>
            <a:endParaRPr lang="en-VN"/>
          </a:p>
        </p:txBody>
      </p:sp>
      <p:sp>
        <p:nvSpPr>
          <p:cNvPr id="12" name="Shape 9"/>
          <p:cNvSpPr/>
          <p:nvPr/>
        </p:nvSpPr>
        <p:spPr>
          <a:xfrm>
            <a:off x="4777130" y="2450592"/>
            <a:ext cx="585216" cy="585216"/>
          </a:xfrm>
          <a:prstGeom prst="ellipse">
            <a:avLst/>
          </a:prstGeom>
          <a:solidFill>
            <a:srgbClr val="EE0033"/>
          </a:solidFill>
          <a:ln/>
        </p:spPr>
        <p:txBody>
          <a:bodyPr/>
          <a:lstStyle/>
          <a:p>
            <a:endParaRPr lang="en-VN"/>
          </a:p>
        </p:txBody>
      </p:sp>
      <p:pic>
        <p:nvPicPr>
          <p:cNvPr id="13" name="Image 1" descr="/home/claude/build/icons/FaPlug_w.png"/>
          <p:cNvPicPr>
            <a:picLocks noChangeAspect="1"/>
          </p:cNvPicPr>
          <p:nvPr/>
        </p:nvPicPr>
        <p:blipFill>
          <a:blip r:embed="rId4"/>
          <a:stretch>
            <a:fillRect/>
          </a:stretch>
        </p:blipFill>
        <p:spPr>
          <a:xfrm>
            <a:off x="4929287" y="2602748"/>
            <a:ext cx="280904" cy="280904"/>
          </a:xfrm>
          <a:prstGeom prst="rect">
            <a:avLst/>
          </a:prstGeom>
        </p:spPr>
      </p:pic>
      <p:sp>
        <p:nvSpPr>
          <p:cNvPr id="14" name="Text 10"/>
          <p:cNvSpPr/>
          <p:nvPr/>
        </p:nvSpPr>
        <p:spPr>
          <a:xfrm>
            <a:off x="4777130" y="3182112"/>
            <a:ext cx="2637434" cy="566928"/>
          </a:xfrm>
          <a:prstGeom prst="rect">
            <a:avLst/>
          </a:prstGeom>
          <a:noFill/>
          <a:ln/>
        </p:spPr>
        <p:txBody>
          <a:bodyPr wrap="square" lIns="0" tIns="0" rIns="0" bIns="0" rtlCol="0" anchor="t"/>
          <a:lstStyle/>
          <a:p>
            <a:pPr marL="0" indent="0">
              <a:lnSpc>
                <a:spcPts val="2000"/>
              </a:lnSpc>
              <a:buNone/>
            </a:pPr>
            <a:r>
              <a:rPr lang="en-US" sz="1500" b="1" dirty="0">
                <a:solidFill>
                  <a:srgbClr val="15171D"/>
                </a:solidFill>
                <a:latin typeface="Tahoma" pitchFamily="34" charset="0"/>
                <a:ea typeface="Tahoma" pitchFamily="34" charset="-122"/>
                <a:cs typeface="Tahoma" pitchFamily="34" charset="-120"/>
              </a:rPr>
              <a:t>API chuẩn hóa qua AI Gateway</a:t>
            </a:r>
            <a:endParaRPr lang="en-US" sz="1500" dirty="0"/>
          </a:p>
        </p:txBody>
      </p:sp>
      <p:sp>
        <p:nvSpPr>
          <p:cNvPr id="15" name="Text 11"/>
          <p:cNvSpPr/>
          <p:nvPr/>
        </p:nvSpPr>
        <p:spPr>
          <a:xfrm>
            <a:off x="4777130" y="3785616"/>
            <a:ext cx="2637434" cy="566928"/>
          </a:xfrm>
          <a:prstGeom prst="rect">
            <a:avLst/>
          </a:prstGeom>
          <a:noFill/>
          <a:ln/>
        </p:spPr>
        <p:txBody>
          <a:bodyPr wrap="square" lIns="0" tIns="0" rIns="0" bIns="0" rtlCol="0" anchor="t"/>
          <a:lstStyle/>
          <a:p>
            <a:pPr marL="0" indent="0">
              <a:lnSpc>
                <a:spcPts val="1500"/>
              </a:lnSpc>
              <a:buNone/>
            </a:pPr>
            <a:r>
              <a:rPr lang="en-US" sz="1100" dirty="0">
                <a:solidFill>
                  <a:srgbClr val="3B3F4A"/>
                </a:solidFill>
                <a:latin typeface="Tahoma" pitchFamily="34" charset="0"/>
                <a:ea typeface="Tahoma" pitchFamily="34" charset="-122"/>
                <a:cs typeface="Tahoma" pitchFamily="34" charset="-120"/>
              </a:rPr>
              <a:t>Một endpoint duy nhất, xác thực bằng API Key, định tuyến và kiểm soát lưu lượng</a:t>
            </a:r>
            <a:endParaRPr lang="en-US" sz="1100" dirty="0"/>
          </a:p>
        </p:txBody>
      </p:sp>
      <p:sp>
        <p:nvSpPr>
          <p:cNvPr id="16" name="Shape 12"/>
          <p:cNvSpPr/>
          <p:nvPr/>
        </p:nvSpPr>
        <p:spPr>
          <a:xfrm>
            <a:off x="7853477" y="3127248"/>
            <a:ext cx="310896" cy="274320"/>
          </a:xfrm>
          <a:prstGeom prst="rightArrow">
            <a:avLst/>
          </a:prstGeom>
          <a:solidFill>
            <a:srgbClr val="EE0033"/>
          </a:solidFill>
          <a:ln/>
        </p:spPr>
        <p:txBody>
          <a:bodyPr/>
          <a:lstStyle/>
          <a:p>
            <a:endParaRPr lang="en-VN"/>
          </a:p>
        </p:txBody>
      </p:sp>
      <p:sp>
        <p:nvSpPr>
          <p:cNvPr id="17" name="Shape 13"/>
          <p:cNvSpPr/>
          <p:nvPr/>
        </p:nvSpPr>
        <p:spPr>
          <a:xfrm>
            <a:off x="8292389" y="2121408"/>
            <a:ext cx="3259226" cy="2286000"/>
          </a:xfrm>
          <a:prstGeom prst="roundRect">
            <a:avLst>
              <a:gd name="adj" fmla="val 2400"/>
            </a:avLst>
          </a:prstGeom>
          <a:solidFill>
            <a:srgbClr val="F4F5F7"/>
          </a:solidFill>
          <a:ln/>
        </p:spPr>
        <p:txBody>
          <a:bodyPr/>
          <a:lstStyle/>
          <a:p>
            <a:endParaRPr lang="en-VN"/>
          </a:p>
        </p:txBody>
      </p:sp>
      <p:sp>
        <p:nvSpPr>
          <p:cNvPr id="18" name="Shape 14"/>
          <p:cNvSpPr/>
          <p:nvPr/>
        </p:nvSpPr>
        <p:spPr>
          <a:xfrm>
            <a:off x="8603285" y="2450592"/>
            <a:ext cx="585216" cy="585216"/>
          </a:xfrm>
          <a:prstGeom prst="ellipse">
            <a:avLst/>
          </a:prstGeom>
          <a:solidFill>
            <a:srgbClr val="15171D"/>
          </a:solidFill>
          <a:ln/>
        </p:spPr>
        <p:txBody>
          <a:bodyPr/>
          <a:lstStyle/>
          <a:p>
            <a:endParaRPr lang="en-VN"/>
          </a:p>
        </p:txBody>
      </p:sp>
      <p:pic>
        <p:nvPicPr>
          <p:cNvPr id="19" name="Image 2" descr="/home/claude/build/icons/FaCubes_w.png"/>
          <p:cNvPicPr>
            <a:picLocks noChangeAspect="1"/>
          </p:cNvPicPr>
          <p:nvPr/>
        </p:nvPicPr>
        <p:blipFill>
          <a:blip r:embed="rId5"/>
          <a:stretch>
            <a:fillRect/>
          </a:stretch>
        </p:blipFill>
        <p:spPr>
          <a:xfrm>
            <a:off x="8755441" y="2602748"/>
            <a:ext cx="280904" cy="280904"/>
          </a:xfrm>
          <a:prstGeom prst="rect">
            <a:avLst/>
          </a:prstGeom>
        </p:spPr>
      </p:pic>
      <p:sp>
        <p:nvSpPr>
          <p:cNvPr id="20" name="Text 15"/>
          <p:cNvSpPr/>
          <p:nvPr/>
        </p:nvSpPr>
        <p:spPr>
          <a:xfrm>
            <a:off x="8603285" y="3182112"/>
            <a:ext cx="2637434" cy="566928"/>
          </a:xfrm>
          <a:prstGeom prst="rect">
            <a:avLst/>
          </a:prstGeom>
          <a:noFill/>
          <a:ln/>
        </p:spPr>
        <p:txBody>
          <a:bodyPr wrap="square" lIns="0" tIns="0" rIns="0" bIns="0" rtlCol="0" anchor="t"/>
          <a:lstStyle/>
          <a:p>
            <a:pPr marL="0" indent="0">
              <a:lnSpc>
                <a:spcPts val="2000"/>
              </a:lnSpc>
              <a:buNone/>
            </a:pPr>
            <a:r>
              <a:rPr lang="en-US" sz="1500" b="1" dirty="0">
                <a:solidFill>
                  <a:srgbClr val="15171D"/>
                </a:solidFill>
                <a:latin typeface="Tahoma" pitchFamily="34" charset="0"/>
                <a:ea typeface="Tahoma" pitchFamily="34" charset="-122"/>
                <a:cs typeface="Tahoma" pitchFamily="34" charset="-120"/>
              </a:rPr>
              <a:t>Kho 40+ mô hình AI</a:t>
            </a:r>
            <a:endParaRPr lang="en-US" sz="1500" dirty="0"/>
          </a:p>
        </p:txBody>
      </p:sp>
      <p:sp>
        <p:nvSpPr>
          <p:cNvPr id="21" name="Text 16"/>
          <p:cNvSpPr/>
          <p:nvPr/>
        </p:nvSpPr>
        <p:spPr>
          <a:xfrm>
            <a:off x="8603285" y="3785616"/>
            <a:ext cx="2637434" cy="566928"/>
          </a:xfrm>
          <a:prstGeom prst="rect">
            <a:avLst/>
          </a:prstGeom>
          <a:noFill/>
          <a:ln/>
        </p:spPr>
        <p:txBody>
          <a:bodyPr wrap="square" lIns="0" tIns="0" rIns="0" bIns="0" rtlCol="0" anchor="t"/>
          <a:lstStyle/>
          <a:p>
            <a:pPr marL="0" indent="0">
              <a:lnSpc>
                <a:spcPts val="1500"/>
              </a:lnSpc>
              <a:buNone/>
            </a:pPr>
            <a:r>
              <a:rPr lang="en-US" sz="1100" dirty="0">
                <a:solidFill>
                  <a:srgbClr val="3B3F4A"/>
                </a:solidFill>
                <a:latin typeface="Tahoma" pitchFamily="34" charset="0"/>
                <a:ea typeface="Tahoma" pitchFamily="34" charset="-122"/>
                <a:cs typeface="Tahoma" pitchFamily="34" charset="-120"/>
              </a:rPr>
              <a:t>LLM, thị giác, embedding, reranker, voice và OCR trên hạ tầng GPU dùng chung</a:t>
            </a:r>
            <a:endParaRPr lang="en-US" sz="1100" dirty="0"/>
          </a:p>
        </p:txBody>
      </p:sp>
      <p:sp>
        <p:nvSpPr>
          <p:cNvPr id="22" name="Shape 17"/>
          <p:cNvSpPr/>
          <p:nvPr/>
        </p:nvSpPr>
        <p:spPr>
          <a:xfrm>
            <a:off x="640080" y="4718304"/>
            <a:ext cx="10911535" cy="1097280"/>
          </a:xfrm>
          <a:prstGeom prst="roundRect">
            <a:avLst>
              <a:gd name="adj" fmla="val 5000"/>
            </a:avLst>
          </a:prstGeom>
          <a:solidFill>
            <a:srgbClr val="FDE9EE"/>
          </a:solidFill>
          <a:ln/>
        </p:spPr>
        <p:txBody>
          <a:bodyPr/>
          <a:lstStyle/>
          <a:p>
            <a:endParaRPr lang="en-VN"/>
          </a:p>
        </p:txBody>
      </p:sp>
      <p:sp>
        <p:nvSpPr>
          <p:cNvPr id="23" name="Text 18"/>
          <p:cNvSpPr/>
          <p:nvPr/>
        </p:nvSpPr>
        <p:spPr>
          <a:xfrm>
            <a:off x="1005840" y="4882896"/>
            <a:ext cx="10180015" cy="329184"/>
          </a:xfrm>
          <a:prstGeom prst="rect">
            <a:avLst/>
          </a:prstGeom>
          <a:noFill/>
          <a:ln/>
        </p:spPr>
        <p:txBody>
          <a:bodyPr wrap="square" lIns="0" tIns="0" rIns="0" bIns="0" rtlCol="0" anchor="ctr"/>
          <a:lstStyle/>
          <a:p>
            <a:pPr marL="0" indent="0">
              <a:buNone/>
            </a:pPr>
            <a:r>
              <a:rPr lang="en-US" sz="1500" b="1" dirty="0">
                <a:solidFill>
                  <a:srgbClr val="B8002A"/>
                </a:solidFill>
                <a:latin typeface="Tahoma" pitchFamily="34" charset="0"/>
                <a:ea typeface="Tahoma" pitchFamily="34" charset="-122"/>
                <a:cs typeface="Tahoma" pitchFamily="34" charset="-120"/>
              </a:rPr>
              <a:t>Doanh nghiệp không phải mua GPU, không tuyển đội ngũ MLOps, không tự vận hành mô hình.</a:t>
            </a:r>
            <a:endParaRPr lang="en-US" sz="1500" dirty="0"/>
          </a:p>
        </p:txBody>
      </p:sp>
      <p:sp>
        <p:nvSpPr>
          <p:cNvPr id="24" name="Text 19"/>
          <p:cNvSpPr/>
          <p:nvPr/>
        </p:nvSpPr>
        <p:spPr>
          <a:xfrm>
            <a:off x="1005840" y="5248656"/>
            <a:ext cx="10180015" cy="329184"/>
          </a:xfrm>
          <a:prstGeom prst="rect">
            <a:avLst/>
          </a:prstGeom>
          <a:noFill/>
          <a:ln/>
        </p:spPr>
        <p:txBody>
          <a:bodyPr wrap="square" lIns="0" tIns="0" rIns="0" bIns="0" rtlCol="0" anchor="ctr"/>
          <a:lstStyle/>
          <a:p>
            <a:pPr marL="0" indent="0">
              <a:buNone/>
            </a:pPr>
            <a:r>
              <a:rPr lang="en-US" sz="1200" dirty="0">
                <a:solidFill>
                  <a:srgbClr val="3B3F4A"/>
                </a:solidFill>
                <a:latin typeface="Tahoma" pitchFamily="34" charset="0"/>
                <a:ea typeface="Tahoma" pitchFamily="34" charset="-122"/>
                <a:cs typeface="Tahoma" pitchFamily="34" charset="-120"/>
              </a:rPr>
              <a:t>Tích hợp công nghệ AI vào quy trình vận hành một cách nhanh chóng và mượt mà, với chi phí theo mức sử dụng thực tế.</a:t>
            </a:r>
            <a:endParaRPr lang="en-US" sz="1200" dirty="0"/>
          </a:p>
        </p:txBody>
      </p:sp>
      <p:pic>
        <p:nvPicPr>
          <p:cNvPr id="9091" name="Viettel AI Logo"/>
          <p:cNvPicPr>
            <a:picLocks noChangeAspect="1"/>
          </p:cNvPicPr>
          <p:nvPr/>
        </p:nvPicPr>
        <p:blipFill>
          <a:blip r:embed="rId6"/>
          <a:stretch>
            <a:fillRect/>
          </a:stretch>
        </p:blipFill>
        <p:spPr>
          <a:xfrm>
            <a:off x="10396584" y="175980"/>
            <a:ext cx="1155031" cy="243840"/>
          </a:xfrm>
          <a:prstGeom prst="rect">
            <a:avLst/>
          </a:prstGeom>
        </p:spPr>
      </p:pic>
      <p:sp>
        <p:nvSpPr>
          <p:cNvPr id="9092" name="Footer URL"/>
          <p:cNvSpPr txBox="1"/>
          <p:nvPr/>
        </p:nvSpPr>
        <p:spPr>
          <a:xfrm>
            <a:off x="640080" y="6342801"/>
            <a:ext cx="1600000" cy="214589"/>
          </a:xfrm>
          <a:prstGeom prst="rect">
            <a:avLst/>
          </a:prstGeom>
          <a:noFill/>
        </p:spPr>
        <p:txBody>
          <a:bodyPr wrap="square" lIns="0" tIns="0" rIns="0" bIns="0" rtlCol="0" anchor="ctr"/>
          <a:lstStyle/>
          <a:p>
            <a:pPr marL="0" indent="0" algn="l">
              <a:buNone/>
            </a:pPr>
            <a:r>
              <a:rPr lang="en-US" sz="1200" b="1" dirty="0">
                <a:solidFill>
                  <a:srgbClr val="EE0033"/>
                </a:solidFill>
                <a:latin typeface="Tahoma" pitchFamily="34" charset="0"/>
                <a:ea typeface="Tahoma" pitchFamily="34" charset="-122"/>
                <a:cs typeface="Tahoma" pitchFamily="34" charset="-120"/>
              </a:rPr>
              <a:t>viettelai.vn</a:t>
            </a:r>
          </a:p>
        </p:txBody>
      </p:sp>
      <p:sp>
        <p:nvSpPr>
          <p:cNvPr id="9093" name="Footer Rule"/>
          <p:cNvSpPr/>
          <p:nvPr/>
        </p:nvSpPr>
        <p:spPr>
          <a:xfrm>
            <a:off x="1767442" y="6486855"/>
            <a:ext cx="8872425" cy="0"/>
          </a:xfrm>
          <a:prstGeom prst="line">
            <a:avLst/>
          </a:prstGeom>
          <a:ln w="9525">
            <a:solidFill>
              <a:srgbClr val="D6DAE4"/>
            </a:solidFill>
          </a:ln>
        </p:spPr>
        <p:txBody>
          <a:bodyPr/>
          <a:lstStyle/>
          <a:p>
            <a:endParaRPr lang="en-US" dirty="0"/>
          </a:p>
        </p:txBody>
      </p:sp>
      <p:sp>
        <p:nvSpPr>
          <p:cNvPr id="9094" name="Page Tab"/>
          <p:cNvSpPr/>
          <p:nvPr/>
        </p:nvSpPr>
        <p:spPr>
          <a:xfrm>
            <a:off x="10819867" y="6321427"/>
            <a:ext cx="731748" cy="294664"/>
          </a:xfrm>
          <a:prstGeom prst="rect">
            <a:avLst/>
          </a:prstGeom>
          <a:solidFill>
            <a:srgbClr val="EE0033"/>
          </a:solidFill>
        </p:spPr>
        <p:txBody>
          <a:bodyPr wrap="square" lIns="0" tIns="0" rIns="0" bIns="0" rtlCol="0" anchor="ctr"/>
          <a:lstStyle/>
          <a:p>
            <a:pPr marL="0" indent="0" algn="ctr">
              <a:buNone/>
            </a:pPr>
            <a:r>
              <a:rPr lang="en-US" sz="1200" b="1" dirty="0">
                <a:solidFill>
                  <a:srgbClr val="FFFFFF"/>
                </a:solidFill>
                <a:latin typeface="Tahoma" pitchFamily="34" charset="0"/>
                <a:cs typeface="Tahoma" pitchFamily="34" charset="-120"/>
              </a:rPr>
              <a:t>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60" dirty="0">
                <a:solidFill>
                  <a:srgbClr val="EE0033"/>
                </a:solidFill>
                <a:latin typeface="Tahoma" pitchFamily="34" charset="0"/>
                <a:ea typeface="Tahoma" pitchFamily="34" charset="-122"/>
                <a:cs typeface="Tahoma" pitchFamily="34" charset="-120"/>
              </a:rPr>
              <a:t>KIẾN TRÚC · THÀNH PHẦN</a:t>
            </a:r>
            <a:endParaRPr lang="en-US" sz="1050" dirty="0"/>
          </a:p>
        </p:txBody>
      </p:sp>
      <p:sp>
        <p:nvSpPr>
          <p:cNvPr id="3" name="Text 1"/>
          <p:cNvSpPr/>
          <p:nvPr/>
        </p:nvSpPr>
        <p:spPr>
          <a:xfrm>
            <a:off x="640080" y="640080"/>
            <a:ext cx="10911535" cy="566928"/>
          </a:xfrm>
          <a:prstGeom prst="rect">
            <a:avLst/>
          </a:prstGeom>
          <a:noFill/>
          <a:ln/>
        </p:spPr>
        <p:txBody>
          <a:bodyPr wrap="square" lIns="0" tIns="0" rIns="0" bIns="0" rtlCol="0" anchor="t"/>
          <a:lstStyle/>
          <a:p>
            <a:pPr marL="0" indent="0">
              <a:buNone/>
            </a:pPr>
            <a:r>
              <a:rPr lang="en-US" sz="2700" b="1" dirty="0">
                <a:solidFill>
                  <a:srgbClr val="15171D"/>
                </a:solidFill>
                <a:latin typeface="Tahoma" pitchFamily="34" charset="0"/>
                <a:ea typeface="Tahoma" pitchFamily="34" charset="-122"/>
                <a:cs typeface="Tahoma" pitchFamily="34" charset="-120"/>
              </a:rPr>
              <a:t>Sáu thành phần cốt lõi của nền tảng</a:t>
            </a:r>
            <a:endParaRPr lang="en-US" sz="2700" dirty="0"/>
          </a:p>
        </p:txBody>
      </p:sp>
      <p:sp>
        <p:nvSpPr>
          <p:cNvPr id="4" name="Shape 2"/>
          <p:cNvSpPr/>
          <p:nvPr/>
        </p:nvSpPr>
        <p:spPr>
          <a:xfrm>
            <a:off x="640080" y="1572768"/>
            <a:ext cx="3454298" cy="1975104"/>
          </a:xfrm>
          <a:prstGeom prst="roundRect">
            <a:avLst>
              <a:gd name="adj" fmla="val 2778"/>
            </a:avLst>
          </a:prstGeom>
          <a:solidFill>
            <a:srgbClr val="F4F5F7"/>
          </a:solidFill>
          <a:ln/>
        </p:spPr>
        <p:txBody>
          <a:bodyPr/>
          <a:lstStyle/>
          <a:p>
            <a:endParaRPr lang="en-VN"/>
          </a:p>
        </p:txBody>
      </p:sp>
      <p:sp>
        <p:nvSpPr>
          <p:cNvPr id="5" name="Shape 3"/>
          <p:cNvSpPr/>
          <p:nvPr/>
        </p:nvSpPr>
        <p:spPr>
          <a:xfrm>
            <a:off x="932688" y="1865376"/>
            <a:ext cx="512064" cy="512064"/>
          </a:xfrm>
          <a:prstGeom prst="ellipse">
            <a:avLst/>
          </a:prstGeom>
          <a:solidFill>
            <a:srgbClr val="EE0033"/>
          </a:solidFill>
          <a:ln/>
        </p:spPr>
        <p:txBody>
          <a:bodyPr/>
          <a:lstStyle/>
          <a:p>
            <a:endParaRPr lang="en-VN"/>
          </a:p>
        </p:txBody>
      </p:sp>
      <p:pic>
        <p:nvPicPr>
          <p:cNvPr id="6" name="Image 0" descr="/home/claude/build/icons/FaNetworkWired_w.png"/>
          <p:cNvPicPr>
            <a:picLocks noChangeAspect="1"/>
          </p:cNvPicPr>
          <p:nvPr/>
        </p:nvPicPr>
        <p:blipFill>
          <a:blip r:embed="rId3"/>
          <a:stretch>
            <a:fillRect/>
          </a:stretch>
        </p:blipFill>
        <p:spPr>
          <a:xfrm>
            <a:off x="1065825" y="1998513"/>
            <a:ext cx="245791" cy="245791"/>
          </a:xfrm>
          <a:prstGeom prst="rect">
            <a:avLst/>
          </a:prstGeom>
        </p:spPr>
      </p:pic>
      <p:sp>
        <p:nvSpPr>
          <p:cNvPr id="7" name="Text 4"/>
          <p:cNvSpPr/>
          <p:nvPr/>
        </p:nvSpPr>
        <p:spPr>
          <a:xfrm>
            <a:off x="932688" y="2468880"/>
            <a:ext cx="2869082" cy="310896"/>
          </a:xfrm>
          <a:prstGeom prst="rect">
            <a:avLst/>
          </a:prstGeom>
          <a:noFill/>
          <a:ln/>
        </p:spPr>
        <p:txBody>
          <a:bodyPr wrap="square" lIns="0" tIns="0" rIns="0" bIns="0" rtlCol="0" anchor="ctr"/>
          <a:lstStyle/>
          <a:p>
            <a:pPr marL="0" indent="0">
              <a:buNone/>
            </a:pPr>
            <a:r>
              <a:rPr lang="en-US" sz="1450" b="1" dirty="0">
                <a:solidFill>
                  <a:srgbClr val="15171D"/>
                </a:solidFill>
                <a:latin typeface="Tahoma" pitchFamily="34" charset="0"/>
                <a:ea typeface="Tahoma" pitchFamily="34" charset="-122"/>
                <a:cs typeface="Tahoma" pitchFamily="34" charset="-120"/>
              </a:rPr>
              <a:t>Load Balancer</a:t>
            </a:r>
            <a:endParaRPr lang="en-US" sz="1450" dirty="0"/>
          </a:p>
        </p:txBody>
      </p:sp>
      <p:sp>
        <p:nvSpPr>
          <p:cNvPr id="8" name="Text 5"/>
          <p:cNvSpPr/>
          <p:nvPr/>
        </p:nvSpPr>
        <p:spPr>
          <a:xfrm>
            <a:off x="932688" y="2779776"/>
            <a:ext cx="2869082" cy="713232"/>
          </a:xfrm>
          <a:prstGeom prst="rect">
            <a:avLst/>
          </a:prstGeom>
          <a:noFill/>
          <a:ln/>
        </p:spPr>
        <p:txBody>
          <a:bodyPr wrap="square" lIns="0" tIns="0" rIns="0" bIns="0" rtlCol="0" anchor="t"/>
          <a:lstStyle/>
          <a:p>
            <a:pPr marL="0" indent="0">
              <a:lnSpc>
                <a:spcPts val="1350"/>
              </a:lnSpc>
              <a:buNone/>
            </a:pPr>
            <a:r>
              <a:rPr lang="en-US" sz="1000" dirty="0">
                <a:solidFill>
                  <a:srgbClr val="3B3F4A"/>
                </a:solidFill>
                <a:latin typeface="Tahoma" pitchFamily="34" charset="0"/>
                <a:ea typeface="Tahoma" pitchFamily="34" charset="-122"/>
                <a:cs typeface="Tahoma" pitchFamily="34" charset="-120"/>
              </a:rPr>
              <a:t>Tiếp nhận toàn bộ yêu cầu từ khách hàng cá nhân, tổ chức qua Internet/Cloud và các đơn vị nội bộ qua đường truyền riêng, rồi điều phối vào hệ thống xử lý.</a:t>
            </a:r>
            <a:endParaRPr lang="en-US" sz="1000" dirty="0"/>
          </a:p>
        </p:txBody>
      </p:sp>
      <p:sp>
        <p:nvSpPr>
          <p:cNvPr id="9" name="Shape 6"/>
          <p:cNvSpPr/>
          <p:nvPr/>
        </p:nvSpPr>
        <p:spPr>
          <a:xfrm>
            <a:off x="4368698" y="1572768"/>
            <a:ext cx="3454298" cy="1975104"/>
          </a:xfrm>
          <a:prstGeom prst="roundRect">
            <a:avLst>
              <a:gd name="adj" fmla="val 2778"/>
            </a:avLst>
          </a:prstGeom>
          <a:solidFill>
            <a:srgbClr val="F4F5F7"/>
          </a:solidFill>
          <a:ln/>
        </p:spPr>
        <p:txBody>
          <a:bodyPr/>
          <a:lstStyle/>
          <a:p>
            <a:endParaRPr lang="en-VN"/>
          </a:p>
        </p:txBody>
      </p:sp>
      <p:sp>
        <p:nvSpPr>
          <p:cNvPr id="10" name="Shape 7"/>
          <p:cNvSpPr/>
          <p:nvPr/>
        </p:nvSpPr>
        <p:spPr>
          <a:xfrm>
            <a:off x="4661306" y="1865376"/>
            <a:ext cx="512064" cy="512064"/>
          </a:xfrm>
          <a:prstGeom prst="ellipse">
            <a:avLst/>
          </a:prstGeom>
          <a:solidFill>
            <a:srgbClr val="EE0033"/>
          </a:solidFill>
          <a:ln/>
        </p:spPr>
        <p:txBody>
          <a:bodyPr/>
          <a:lstStyle/>
          <a:p>
            <a:endParaRPr lang="en-VN"/>
          </a:p>
        </p:txBody>
      </p:sp>
      <p:pic>
        <p:nvPicPr>
          <p:cNvPr id="11" name="Image 1" descr="/home/claude/build/icons/FaCodeBranch_w.png"/>
          <p:cNvPicPr>
            <a:picLocks noChangeAspect="1"/>
          </p:cNvPicPr>
          <p:nvPr/>
        </p:nvPicPr>
        <p:blipFill>
          <a:blip r:embed="rId4"/>
          <a:stretch>
            <a:fillRect/>
          </a:stretch>
        </p:blipFill>
        <p:spPr>
          <a:xfrm>
            <a:off x="4794443" y="1998513"/>
            <a:ext cx="245791" cy="245791"/>
          </a:xfrm>
          <a:prstGeom prst="rect">
            <a:avLst/>
          </a:prstGeom>
        </p:spPr>
      </p:pic>
      <p:sp>
        <p:nvSpPr>
          <p:cNvPr id="12" name="Text 8"/>
          <p:cNvSpPr/>
          <p:nvPr/>
        </p:nvSpPr>
        <p:spPr>
          <a:xfrm>
            <a:off x="4661306" y="2468880"/>
            <a:ext cx="2869082" cy="310896"/>
          </a:xfrm>
          <a:prstGeom prst="rect">
            <a:avLst/>
          </a:prstGeom>
          <a:noFill/>
          <a:ln/>
        </p:spPr>
        <p:txBody>
          <a:bodyPr wrap="square" lIns="0" tIns="0" rIns="0" bIns="0" rtlCol="0" anchor="ctr"/>
          <a:lstStyle/>
          <a:p>
            <a:pPr marL="0" indent="0">
              <a:buNone/>
            </a:pPr>
            <a:r>
              <a:rPr lang="en-US" sz="1450" b="1" dirty="0">
                <a:solidFill>
                  <a:srgbClr val="15171D"/>
                </a:solidFill>
                <a:latin typeface="Tahoma" pitchFamily="34" charset="0"/>
                <a:ea typeface="Tahoma" pitchFamily="34" charset="-122"/>
                <a:cs typeface="Tahoma" pitchFamily="34" charset="-120"/>
              </a:rPr>
              <a:t>AI Gateway</a:t>
            </a:r>
            <a:endParaRPr lang="en-US" sz="1450" dirty="0"/>
          </a:p>
        </p:txBody>
      </p:sp>
      <p:sp>
        <p:nvSpPr>
          <p:cNvPr id="13" name="Text 9"/>
          <p:cNvSpPr/>
          <p:nvPr/>
        </p:nvSpPr>
        <p:spPr>
          <a:xfrm>
            <a:off x="4661306" y="2779776"/>
            <a:ext cx="2869082" cy="713232"/>
          </a:xfrm>
          <a:prstGeom prst="rect">
            <a:avLst/>
          </a:prstGeom>
          <a:noFill/>
          <a:ln/>
        </p:spPr>
        <p:txBody>
          <a:bodyPr wrap="square" lIns="0" tIns="0" rIns="0" bIns="0" rtlCol="0" anchor="t"/>
          <a:lstStyle/>
          <a:p>
            <a:pPr marL="0" indent="0">
              <a:lnSpc>
                <a:spcPts val="1350"/>
              </a:lnSpc>
              <a:buNone/>
            </a:pPr>
            <a:r>
              <a:rPr lang="en-US" sz="1000" dirty="0">
                <a:solidFill>
                  <a:srgbClr val="3B3F4A"/>
                </a:solidFill>
                <a:latin typeface="Tahoma" pitchFamily="34" charset="0"/>
                <a:ea typeface="Tahoma" pitchFamily="34" charset="-122"/>
                <a:cs typeface="Tahoma" pitchFamily="34" charset="-120"/>
              </a:rPr>
              <a:t>Định tuyến chính xác các yêu cầu, kiểm soát lưu lượng (rate limiting), xác thực bảo mật và phân phối tác vụ đến các dịch vụ chuyên trách phía sau.</a:t>
            </a:r>
            <a:endParaRPr lang="en-US" sz="1000" dirty="0"/>
          </a:p>
        </p:txBody>
      </p:sp>
      <p:sp>
        <p:nvSpPr>
          <p:cNvPr id="14" name="Shape 10"/>
          <p:cNvSpPr/>
          <p:nvPr/>
        </p:nvSpPr>
        <p:spPr>
          <a:xfrm>
            <a:off x="8097317" y="1572768"/>
            <a:ext cx="3454298" cy="1975104"/>
          </a:xfrm>
          <a:prstGeom prst="roundRect">
            <a:avLst>
              <a:gd name="adj" fmla="val 2778"/>
            </a:avLst>
          </a:prstGeom>
          <a:solidFill>
            <a:srgbClr val="F4F5F7"/>
          </a:solidFill>
          <a:ln/>
        </p:spPr>
        <p:txBody>
          <a:bodyPr/>
          <a:lstStyle/>
          <a:p>
            <a:endParaRPr lang="en-VN"/>
          </a:p>
        </p:txBody>
      </p:sp>
      <p:sp>
        <p:nvSpPr>
          <p:cNvPr id="15" name="Shape 11"/>
          <p:cNvSpPr/>
          <p:nvPr/>
        </p:nvSpPr>
        <p:spPr>
          <a:xfrm>
            <a:off x="8389925" y="1865376"/>
            <a:ext cx="512064" cy="512064"/>
          </a:xfrm>
          <a:prstGeom prst="ellipse">
            <a:avLst/>
          </a:prstGeom>
          <a:solidFill>
            <a:srgbClr val="EE0033"/>
          </a:solidFill>
          <a:ln/>
        </p:spPr>
        <p:txBody>
          <a:bodyPr/>
          <a:lstStyle/>
          <a:p>
            <a:endParaRPr lang="en-VN"/>
          </a:p>
        </p:txBody>
      </p:sp>
      <p:pic>
        <p:nvPicPr>
          <p:cNvPr id="16" name="Image 2" descr="/home/claude/build/icons/FaMicrochip_w.png"/>
          <p:cNvPicPr>
            <a:picLocks noChangeAspect="1"/>
          </p:cNvPicPr>
          <p:nvPr/>
        </p:nvPicPr>
        <p:blipFill>
          <a:blip r:embed="rId5"/>
          <a:stretch>
            <a:fillRect/>
          </a:stretch>
        </p:blipFill>
        <p:spPr>
          <a:xfrm>
            <a:off x="8523061" y="1998513"/>
            <a:ext cx="245791" cy="245791"/>
          </a:xfrm>
          <a:prstGeom prst="rect">
            <a:avLst/>
          </a:prstGeom>
        </p:spPr>
      </p:pic>
      <p:sp>
        <p:nvSpPr>
          <p:cNvPr id="17" name="Text 12"/>
          <p:cNvSpPr/>
          <p:nvPr/>
        </p:nvSpPr>
        <p:spPr>
          <a:xfrm>
            <a:off x="8389925" y="2468880"/>
            <a:ext cx="2869082" cy="310896"/>
          </a:xfrm>
          <a:prstGeom prst="rect">
            <a:avLst/>
          </a:prstGeom>
          <a:noFill/>
          <a:ln/>
        </p:spPr>
        <p:txBody>
          <a:bodyPr wrap="square" lIns="0" tIns="0" rIns="0" bIns="0" rtlCol="0" anchor="ctr"/>
          <a:lstStyle/>
          <a:p>
            <a:pPr marL="0" indent="0">
              <a:buNone/>
            </a:pPr>
            <a:r>
              <a:rPr lang="en-US" sz="1450" b="1" dirty="0">
                <a:solidFill>
                  <a:srgbClr val="15171D"/>
                </a:solidFill>
                <a:latin typeface="Tahoma" pitchFamily="34" charset="0"/>
                <a:ea typeface="Tahoma" pitchFamily="34" charset="-122"/>
                <a:cs typeface="Tahoma" pitchFamily="34" charset="-120"/>
              </a:rPr>
              <a:t>Model Inference</a:t>
            </a:r>
            <a:endParaRPr lang="en-US" sz="1450" dirty="0"/>
          </a:p>
        </p:txBody>
      </p:sp>
      <p:sp>
        <p:nvSpPr>
          <p:cNvPr id="18" name="Text 13"/>
          <p:cNvSpPr/>
          <p:nvPr/>
        </p:nvSpPr>
        <p:spPr>
          <a:xfrm>
            <a:off x="8389925" y="2779776"/>
            <a:ext cx="2869082" cy="713232"/>
          </a:xfrm>
          <a:prstGeom prst="rect">
            <a:avLst/>
          </a:prstGeom>
          <a:noFill/>
          <a:ln/>
        </p:spPr>
        <p:txBody>
          <a:bodyPr wrap="square" lIns="0" tIns="0" rIns="0" bIns="0" rtlCol="0" anchor="t"/>
          <a:lstStyle/>
          <a:p>
            <a:pPr marL="0" indent="0">
              <a:lnSpc>
                <a:spcPts val="1350"/>
              </a:lnSpc>
              <a:buNone/>
            </a:pPr>
            <a:r>
              <a:rPr lang="en-US" sz="1000" dirty="0">
                <a:solidFill>
                  <a:srgbClr val="3B3F4A"/>
                </a:solidFill>
                <a:latin typeface="Tahoma" pitchFamily="34" charset="0"/>
                <a:ea typeface="Tahoma" pitchFamily="34" charset="-122"/>
                <a:cs typeface="Tahoma" pitchFamily="34" charset="-120"/>
              </a:rPr>
              <a:t>Lưu trữ và vận hành các mô hình AI (LLM, Computer Vision, Voice…), được đóng gói tối ưu, sẵn sàng xử lý các tác vụ tính toán phức tạp.</a:t>
            </a:r>
            <a:endParaRPr lang="en-US" sz="1000" dirty="0"/>
          </a:p>
        </p:txBody>
      </p:sp>
      <p:sp>
        <p:nvSpPr>
          <p:cNvPr id="19" name="Shape 14"/>
          <p:cNvSpPr/>
          <p:nvPr/>
        </p:nvSpPr>
        <p:spPr>
          <a:xfrm>
            <a:off x="640080" y="3822192"/>
            <a:ext cx="3454298" cy="1975104"/>
          </a:xfrm>
          <a:prstGeom prst="roundRect">
            <a:avLst>
              <a:gd name="adj" fmla="val 2778"/>
            </a:avLst>
          </a:prstGeom>
          <a:solidFill>
            <a:srgbClr val="F4F5F7"/>
          </a:solidFill>
          <a:ln/>
        </p:spPr>
        <p:txBody>
          <a:bodyPr/>
          <a:lstStyle/>
          <a:p>
            <a:endParaRPr lang="en-VN"/>
          </a:p>
        </p:txBody>
      </p:sp>
      <p:sp>
        <p:nvSpPr>
          <p:cNvPr id="20" name="Shape 15"/>
          <p:cNvSpPr/>
          <p:nvPr/>
        </p:nvSpPr>
        <p:spPr>
          <a:xfrm>
            <a:off x="932688" y="4114800"/>
            <a:ext cx="512064" cy="512064"/>
          </a:xfrm>
          <a:prstGeom prst="ellipse">
            <a:avLst/>
          </a:prstGeom>
          <a:solidFill>
            <a:srgbClr val="EE0033"/>
          </a:solidFill>
          <a:ln/>
        </p:spPr>
        <p:txBody>
          <a:bodyPr/>
          <a:lstStyle/>
          <a:p>
            <a:endParaRPr lang="en-VN"/>
          </a:p>
        </p:txBody>
      </p:sp>
      <p:pic>
        <p:nvPicPr>
          <p:cNvPr id="21" name="Image 3" descr="/home/claude/build/icons/FaBolt_w.png"/>
          <p:cNvPicPr>
            <a:picLocks noChangeAspect="1"/>
          </p:cNvPicPr>
          <p:nvPr/>
        </p:nvPicPr>
        <p:blipFill>
          <a:blip r:embed="rId6"/>
          <a:stretch>
            <a:fillRect/>
          </a:stretch>
        </p:blipFill>
        <p:spPr>
          <a:xfrm>
            <a:off x="1065825" y="4247937"/>
            <a:ext cx="245791" cy="245791"/>
          </a:xfrm>
          <a:prstGeom prst="rect">
            <a:avLst/>
          </a:prstGeom>
        </p:spPr>
      </p:pic>
      <p:sp>
        <p:nvSpPr>
          <p:cNvPr id="22" name="Text 16"/>
          <p:cNvSpPr/>
          <p:nvPr/>
        </p:nvSpPr>
        <p:spPr>
          <a:xfrm>
            <a:off x="932688" y="4718304"/>
            <a:ext cx="2869082" cy="310896"/>
          </a:xfrm>
          <a:prstGeom prst="rect">
            <a:avLst/>
          </a:prstGeom>
          <a:noFill/>
          <a:ln/>
        </p:spPr>
        <p:txBody>
          <a:bodyPr wrap="square" lIns="0" tIns="0" rIns="0" bIns="0" rtlCol="0" anchor="ctr"/>
          <a:lstStyle/>
          <a:p>
            <a:pPr marL="0" indent="0">
              <a:buNone/>
            </a:pPr>
            <a:r>
              <a:rPr lang="en-US" sz="1450" b="1" dirty="0">
                <a:solidFill>
                  <a:srgbClr val="15171D"/>
                </a:solidFill>
                <a:latin typeface="Tahoma" pitchFamily="34" charset="0"/>
                <a:ea typeface="Tahoma" pitchFamily="34" charset="-122"/>
                <a:cs typeface="Tahoma" pitchFamily="34" charset="-120"/>
              </a:rPr>
              <a:t>Cache Layer</a:t>
            </a:r>
            <a:endParaRPr lang="en-US" sz="1450" dirty="0"/>
          </a:p>
        </p:txBody>
      </p:sp>
      <p:sp>
        <p:nvSpPr>
          <p:cNvPr id="23" name="Text 17"/>
          <p:cNvSpPr/>
          <p:nvPr/>
        </p:nvSpPr>
        <p:spPr>
          <a:xfrm>
            <a:off x="932688" y="5029200"/>
            <a:ext cx="2869082" cy="713232"/>
          </a:xfrm>
          <a:prstGeom prst="rect">
            <a:avLst/>
          </a:prstGeom>
          <a:noFill/>
          <a:ln/>
        </p:spPr>
        <p:txBody>
          <a:bodyPr wrap="square" lIns="0" tIns="0" rIns="0" bIns="0" rtlCol="0" anchor="t"/>
          <a:lstStyle/>
          <a:p>
            <a:pPr marL="0" indent="0">
              <a:lnSpc>
                <a:spcPts val="1350"/>
              </a:lnSpc>
              <a:buNone/>
            </a:pPr>
            <a:r>
              <a:rPr lang="en-US" sz="1000" dirty="0">
                <a:solidFill>
                  <a:srgbClr val="3B3F4A"/>
                </a:solidFill>
                <a:latin typeface="Tahoma" pitchFamily="34" charset="0"/>
                <a:ea typeface="Tahoma" pitchFamily="34" charset="-122"/>
                <a:cs typeface="Tahoma" pitchFamily="34" charset="-120"/>
              </a:rPr>
              <a:t>Lưu trữ tạm thời kết quả truy vấn phổ biến và dữ liệu thường dùng, giúp tăng tốc độ phản hồi và giảm tải cho các mô hình AI phía sau.</a:t>
            </a:r>
            <a:endParaRPr lang="en-US" sz="1000" dirty="0"/>
          </a:p>
        </p:txBody>
      </p:sp>
      <p:sp>
        <p:nvSpPr>
          <p:cNvPr id="24" name="Shape 18"/>
          <p:cNvSpPr/>
          <p:nvPr/>
        </p:nvSpPr>
        <p:spPr>
          <a:xfrm>
            <a:off x="4368698" y="3822192"/>
            <a:ext cx="3454298" cy="1975104"/>
          </a:xfrm>
          <a:prstGeom prst="roundRect">
            <a:avLst>
              <a:gd name="adj" fmla="val 2778"/>
            </a:avLst>
          </a:prstGeom>
          <a:solidFill>
            <a:srgbClr val="F4F5F7"/>
          </a:solidFill>
          <a:ln/>
        </p:spPr>
        <p:txBody>
          <a:bodyPr/>
          <a:lstStyle/>
          <a:p>
            <a:endParaRPr lang="en-VN"/>
          </a:p>
        </p:txBody>
      </p:sp>
      <p:sp>
        <p:nvSpPr>
          <p:cNvPr id="25" name="Shape 19"/>
          <p:cNvSpPr/>
          <p:nvPr/>
        </p:nvSpPr>
        <p:spPr>
          <a:xfrm>
            <a:off x="4661306" y="4114800"/>
            <a:ext cx="512064" cy="512064"/>
          </a:xfrm>
          <a:prstGeom prst="ellipse">
            <a:avLst/>
          </a:prstGeom>
          <a:solidFill>
            <a:srgbClr val="EE0033"/>
          </a:solidFill>
          <a:ln/>
        </p:spPr>
        <p:txBody>
          <a:bodyPr/>
          <a:lstStyle/>
          <a:p>
            <a:endParaRPr lang="en-VN"/>
          </a:p>
        </p:txBody>
      </p:sp>
      <p:pic>
        <p:nvPicPr>
          <p:cNvPr id="26" name="Image 4" descr="/home/claude/build/icons/FaChartArea_w.png"/>
          <p:cNvPicPr>
            <a:picLocks noChangeAspect="1"/>
          </p:cNvPicPr>
          <p:nvPr/>
        </p:nvPicPr>
        <p:blipFill>
          <a:blip r:embed="rId7"/>
          <a:stretch>
            <a:fillRect/>
          </a:stretch>
        </p:blipFill>
        <p:spPr>
          <a:xfrm>
            <a:off x="4794443" y="4247937"/>
            <a:ext cx="245791" cy="245791"/>
          </a:xfrm>
          <a:prstGeom prst="rect">
            <a:avLst/>
          </a:prstGeom>
        </p:spPr>
      </p:pic>
      <p:sp>
        <p:nvSpPr>
          <p:cNvPr id="27" name="Text 20"/>
          <p:cNvSpPr/>
          <p:nvPr/>
        </p:nvSpPr>
        <p:spPr>
          <a:xfrm>
            <a:off x="4661306" y="4718304"/>
            <a:ext cx="2869082" cy="310896"/>
          </a:xfrm>
          <a:prstGeom prst="rect">
            <a:avLst/>
          </a:prstGeom>
          <a:noFill/>
          <a:ln/>
        </p:spPr>
        <p:txBody>
          <a:bodyPr wrap="square" lIns="0" tIns="0" rIns="0" bIns="0" rtlCol="0" anchor="ctr"/>
          <a:lstStyle/>
          <a:p>
            <a:pPr marL="0" indent="0">
              <a:buNone/>
            </a:pPr>
            <a:r>
              <a:rPr lang="en-US" sz="1450" b="1" dirty="0">
                <a:solidFill>
                  <a:srgbClr val="15171D"/>
                </a:solidFill>
                <a:latin typeface="Tahoma" pitchFamily="34" charset="0"/>
                <a:ea typeface="Tahoma" pitchFamily="34" charset="-122"/>
                <a:cs typeface="Tahoma" pitchFamily="34" charset="-120"/>
              </a:rPr>
              <a:t>Observability Platform</a:t>
            </a:r>
            <a:endParaRPr lang="en-US" sz="1450" dirty="0"/>
          </a:p>
        </p:txBody>
      </p:sp>
      <p:sp>
        <p:nvSpPr>
          <p:cNvPr id="28" name="Text 21"/>
          <p:cNvSpPr/>
          <p:nvPr/>
        </p:nvSpPr>
        <p:spPr>
          <a:xfrm>
            <a:off x="4661306" y="5029200"/>
            <a:ext cx="2869082" cy="713232"/>
          </a:xfrm>
          <a:prstGeom prst="rect">
            <a:avLst/>
          </a:prstGeom>
          <a:noFill/>
          <a:ln/>
        </p:spPr>
        <p:txBody>
          <a:bodyPr wrap="square" lIns="0" tIns="0" rIns="0" bIns="0" rtlCol="0" anchor="t"/>
          <a:lstStyle/>
          <a:p>
            <a:pPr marL="0" indent="0">
              <a:lnSpc>
                <a:spcPts val="1350"/>
              </a:lnSpc>
              <a:buNone/>
            </a:pPr>
            <a:r>
              <a:rPr lang="en-US" sz="1000" dirty="0">
                <a:solidFill>
                  <a:srgbClr val="3B3F4A"/>
                </a:solidFill>
                <a:latin typeface="Tahoma" pitchFamily="34" charset="0"/>
                <a:ea typeface="Tahoma" pitchFamily="34" charset="-122"/>
                <a:cs typeface="Tahoma" pitchFamily="34" charset="-120"/>
              </a:rPr>
              <a:t>Theo dõi hiệu năng theo thời gian thực, cho phép giám sát tình trạng hoạt động, tốc độ xử lý và kịp thời phát hiện bất thường.</a:t>
            </a:r>
            <a:endParaRPr lang="en-US" sz="1000" dirty="0"/>
          </a:p>
        </p:txBody>
      </p:sp>
      <p:sp>
        <p:nvSpPr>
          <p:cNvPr id="29" name="Shape 22"/>
          <p:cNvSpPr/>
          <p:nvPr/>
        </p:nvSpPr>
        <p:spPr>
          <a:xfrm>
            <a:off x="8097317" y="3822192"/>
            <a:ext cx="3454298" cy="1975104"/>
          </a:xfrm>
          <a:prstGeom prst="roundRect">
            <a:avLst>
              <a:gd name="adj" fmla="val 2778"/>
            </a:avLst>
          </a:prstGeom>
          <a:solidFill>
            <a:srgbClr val="F4F5F7"/>
          </a:solidFill>
          <a:ln/>
        </p:spPr>
        <p:txBody>
          <a:bodyPr/>
          <a:lstStyle/>
          <a:p>
            <a:endParaRPr lang="en-VN"/>
          </a:p>
        </p:txBody>
      </p:sp>
      <p:sp>
        <p:nvSpPr>
          <p:cNvPr id="30" name="Shape 23"/>
          <p:cNvSpPr/>
          <p:nvPr/>
        </p:nvSpPr>
        <p:spPr>
          <a:xfrm>
            <a:off x="8389925" y="4114800"/>
            <a:ext cx="512064" cy="512064"/>
          </a:xfrm>
          <a:prstGeom prst="ellipse">
            <a:avLst/>
          </a:prstGeom>
          <a:solidFill>
            <a:srgbClr val="EE0033"/>
          </a:solidFill>
          <a:ln/>
        </p:spPr>
        <p:txBody>
          <a:bodyPr/>
          <a:lstStyle/>
          <a:p>
            <a:endParaRPr lang="en-VN"/>
          </a:p>
        </p:txBody>
      </p:sp>
      <p:pic>
        <p:nvPicPr>
          <p:cNvPr id="31" name="Image 5" descr="/home/claude/build/icons/FaFileLines_w.png"/>
          <p:cNvPicPr>
            <a:picLocks noChangeAspect="1"/>
          </p:cNvPicPr>
          <p:nvPr/>
        </p:nvPicPr>
        <p:blipFill>
          <a:blip r:embed="rId8"/>
          <a:stretch>
            <a:fillRect/>
          </a:stretch>
        </p:blipFill>
        <p:spPr>
          <a:xfrm>
            <a:off x="8523061" y="4247937"/>
            <a:ext cx="245791" cy="245791"/>
          </a:xfrm>
          <a:prstGeom prst="rect">
            <a:avLst/>
          </a:prstGeom>
        </p:spPr>
      </p:pic>
      <p:sp>
        <p:nvSpPr>
          <p:cNvPr id="32" name="Text 24"/>
          <p:cNvSpPr/>
          <p:nvPr/>
        </p:nvSpPr>
        <p:spPr>
          <a:xfrm>
            <a:off x="8389925" y="4718304"/>
            <a:ext cx="2869082" cy="310896"/>
          </a:xfrm>
          <a:prstGeom prst="rect">
            <a:avLst/>
          </a:prstGeom>
          <a:noFill/>
          <a:ln/>
        </p:spPr>
        <p:txBody>
          <a:bodyPr wrap="square" lIns="0" tIns="0" rIns="0" bIns="0" rtlCol="0" anchor="ctr"/>
          <a:lstStyle/>
          <a:p>
            <a:pPr marL="0" indent="0">
              <a:buNone/>
            </a:pPr>
            <a:r>
              <a:rPr lang="en-US" sz="1450" b="1" dirty="0">
                <a:solidFill>
                  <a:srgbClr val="15171D"/>
                </a:solidFill>
                <a:latin typeface="Tahoma" pitchFamily="34" charset="0"/>
                <a:ea typeface="Tahoma" pitchFamily="34" charset="-122"/>
                <a:cs typeface="Tahoma" pitchFamily="34" charset="-120"/>
              </a:rPr>
              <a:t>Logs</a:t>
            </a:r>
            <a:endParaRPr lang="en-US" sz="1450" dirty="0"/>
          </a:p>
        </p:txBody>
      </p:sp>
      <p:sp>
        <p:nvSpPr>
          <p:cNvPr id="33" name="Text 25"/>
          <p:cNvSpPr/>
          <p:nvPr/>
        </p:nvSpPr>
        <p:spPr>
          <a:xfrm>
            <a:off x="8389925" y="5029200"/>
            <a:ext cx="2869082" cy="713232"/>
          </a:xfrm>
          <a:prstGeom prst="rect">
            <a:avLst/>
          </a:prstGeom>
          <a:noFill/>
          <a:ln/>
        </p:spPr>
        <p:txBody>
          <a:bodyPr wrap="square" lIns="0" tIns="0" rIns="0" bIns="0" rtlCol="0" anchor="t"/>
          <a:lstStyle/>
          <a:p>
            <a:pPr marL="0" indent="0">
              <a:lnSpc>
                <a:spcPts val="1350"/>
              </a:lnSpc>
              <a:buNone/>
            </a:pPr>
            <a:r>
              <a:rPr lang="en-US" sz="1000" dirty="0">
                <a:solidFill>
                  <a:srgbClr val="3B3F4A"/>
                </a:solidFill>
                <a:latin typeface="Tahoma" pitchFamily="34" charset="0"/>
                <a:ea typeface="Tahoma" pitchFamily="34" charset="-122"/>
                <a:cs typeface="Tahoma" pitchFamily="34" charset="-120"/>
              </a:rPr>
              <a:t>Ghi vết toàn bộ lịch sử hoạt động, các yêu cầu gọi API và lịch sử lỗi — phục vụ kiểm toán bảo mật (Audit) và tối ưu hóa hệ thống.</a:t>
            </a:r>
            <a:endParaRPr lang="en-US" sz="1000" dirty="0"/>
          </a:p>
        </p:txBody>
      </p:sp>
      <p:pic>
        <p:nvPicPr>
          <p:cNvPr id="9111" name="Viettel AI Logo"/>
          <p:cNvPicPr>
            <a:picLocks noChangeAspect="1"/>
          </p:cNvPicPr>
          <p:nvPr/>
        </p:nvPicPr>
        <p:blipFill>
          <a:blip r:embed="rId9"/>
          <a:stretch>
            <a:fillRect/>
          </a:stretch>
        </p:blipFill>
        <p:spPr>
          <a:xfrm>
            <a:off x="10396584" y="175980"/>
            <a:ext cx="1155031" cy="243840"/>
          </a:xfrm>
          <a:prstGeom prst="rect">
            <a:avLst/>
          </a:prstGeom>
        </p:spPr>
      </p:pic>
      <p:sp>
        <p:nvSpPr>
          <p:cNvPr id="9112" name="Footer URL"/>
          <p:cNvSpPr txBox="1"/>
          <p:nvPr/>
        </p:nvSpPr>
        <p:spPr>
          <a:xfrm>
            <a:off x="640080" y="6342801"/>
            <a:ext cx="1600000" cy="214589"/>
          </a:xfrm>
          <a:prstGeom prst="rect">
            <a:avLst/>
          </a:prstGeom>
          <a:noFill/>
        </p:spPr>
        <p:txBody>
          <a:bodyPr wrap="square" lIns="0" tIns="0" rIns="0" bIns="0" rtlCol="0" anchor="ctr"/>
          <a:lstStyle/>
          <a:p>
            <a:pPr marL="0" indent="0" algn="l">
              <a:buNone/>
            </a:pPr>
            <a:r>
              <a:rPr lang="en-US" sz="1200" b="1" dirty="0">
                <a:solidFill>
                  <a:srgbClr val="EE0033"/>
                </a:solidFill>
                <a:latin typeface="Tahoma" pitchFamily="34" charset="0"/>
                <a:ea typeface="Tahoma" pitchFamily="34" charset="-122"/>
                <a:cs typeface="Tahoma" pitchFamily="34" charset="-120"/>
              </a:rPr>
              <a:t>viettelai.vn</a:t>
            </a:r>
          </a:p>
        </p:txBody>
      </p:sp>
      <p:sp>
        <p:nvSpPr>
          <p:cNvPr id="9113" name="Footer Rule"/>
          <p:cNvSpPr/>
          <p:nvPr/>
        </p:nvSpPr>
        <p:spPr>
          <a:xfrm>
            <a:off x="1767442" y="6486855"/>
            <a:ext cx="8872425" cy="0"/>
          </a:xfrm>
          <a:prstGeom prst="line">
            <a:avLst/>
          </a:prstGeom>
          <a:ln w="9525">
            <a:solidFill>
              <a:srgbClr val="D6DAE4"/>
            </a:solidFill>
          </a:ln>
        </p:spPr>
        <p:txBody>
          <a:bodyPr/>
          <a:lstStyle/>
          <a:p>
            <a:endParaRPr lang="en-US" dirty="0"/>
          </a:p>
        </p:txBody>
      </p:sp>
      <p:sp>
        <p:nvSpPr>
          <p:cNvPr id="9114" name="Page Tab"/>
          <p:cNvSpPr/>
          <p:nvPr/>
        </p:nvSpPr>
        <p:spPr>
          <a:xfrm>
            <a:off x="10819867" y="6321427"/>
            <a:ext cx="731748" cy="294664"/>
          </a:xfrm>
          <a:prstGeom prst="rect">
            <a:avLst/>
          </a:prstGeom>
          <a:solidFill>
            <a:srgbClr val="EE0033"/>
          </a:solidFill>
        </p:spPr>
        <p:txBody>
          <a:bodyPr wrap="square" lIns="0" tIns="0" rIns="0" bIns="0" rtlCol="0" anchor="ctr"/>
          <a:lstStyle/>
          <a:p>
            <a:pPr marL="0" indent="0" algn="ctr">
              <a:buNone/>
            </a:pPr>
            <a:r>
              <a:rPr lang="en-US" sz="1200" b="1" dirty="0">
                <a:solidFill>
                  <a:srgbClr val="FFFFFF"/>
                </a:solidFill>
                <a:latin typeface="Tahoma" pitchFamily="34" charset="0"/>
                <a:cs typeface="Tahoma" pitchFamily="34" charset="-120"/>
              </a:rPr>
              <a:t>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317FC-ACF3-F0B7-1AF1-58CC8832C670}"/>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49A5924D-E0A0-AC3F-7511-44E1CECA7911}"/>
              </a:ext>
            </a:extLst>
          </p:cNvPr>
          <p:cNvSpPr txBox="1"/>
          <p:nvPr/>
        </p:nvSpPr>
        <p:spPr>
          <a:xfrm>
            <a:off x="8598571" y="-818148"/>
            <a:ext cx="184731" cy="300210"/>
          </a:xfrm>
          <a:prstGeom prst="rect">
            <a:avLst/>
          </a:prstGeom>
          <a:noFill/>
        </p:spPr>
        <p:txBody>
          <a:bodyPr wrap="none" rtlCol="0">
            <a:spAutoFit/>
          </a:bodyPr>
          <a:lstStyle/>
          <a:p>
            <a:endParaRPr lang="x-none" sz="1351">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44C0379B-62F3-F7FC-21C7-4A42C03E5BAF}"/>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1039103" y="142968"/>
            <a:ext cx="996543" cy="365125"/>
          </a:xfrm>
          <a:prstGeom prst="rect">
            <a:avLst/>
          </a:prstGeom>
        </p:spPr>
      </p:pic>
      <p:pic>
        <p:nvPicPr>
          <p:cNvPr id="8" name="Graphic 17">
            <a:extLst>
              <a:ext uri="{FF2B5EF4-FFF2-40B4-BE49-F238E27FC236}">
                <a16:creationId xmlns:a16="http://schemas.microsoft.com/office/drawing/2014/main" id="{C21676A3-B838-EC54-FE31-F36BDA0D0684}"/>
              </a:ext>
            </a:extLst>
          </p:cNvPr>
          <p:cNvPicPr>
            <a:picLocks noChangeAspect="1"/>
          </p:cNvPicPr>
          <p:nvPr/>
        </p:nvPicPr>
        <p:blipFill>
          <a:blip r:embed="rId4"/>
          <a:stretch>
            <a:fillRect/>
          </a:stretch>
        </p:blipFill>
        <p:spPr>
          <a:xfrm rot="-1200000">
            <a:off x="11776726" y="6358822"/>
            <a:ext cx="429809" cy="428855"/>
          </a:xfrm>
          <a:prstGeom prst="rect">
            <a:avLst/>
          </a:prstGeom>
          <a:effectLst/>
        </p:spPr>
      </p:pic>
      <p:sp>
        <p:nvSpPr>
          <p:cNvPr id="10" name="Slide Number Placeholder 5">
            <a:extLst>
              <a:ext uri="{FF2B5EF4-FFF2-40B4-BE49-F238E27FC236}">
                <a16:creationId xmlns:a16="http://schemas.microsoft.com/office/drawing/2014/main" id="{FBCE952B-1B23-F2C0-4C5D-024BDB738601}"/>
              </a:ext>
            </a:extLst>
          </p:cNvPr>
          <p:cNvSpPr txBox="1">
            <a:spLocks/>
          </p:cNvSpPr>
          <p:nvPr/>
        </p:nvSpPr>
        <p:spPr>
          <a:xfrm>
            <a:off x="11794439" y="6315327"/>
            <a:ext cx="364800" cy="364800"/>
          </a:xfrm>
          <a:prstGeom prst="rect">
            <a:avLst/>
          </a:prstGeom>
        </p:spPr>
        <p:txBody>
          <a:bodyPr vert="horz" lIns="62400" tIns="62400" rIns="62400" bIns="60960" rtlCol="0" anchor="ctr"/>
          <a:lstStyle>
            <a:defPPr>
              <a:defRPr lang="en-US"/>
            </a:defPPr>
            <a:lvl1pPr marL="0" algn="ctr" defTabSz="685800" rtl="0" eaLnBrk="1" latinLnBrk="0" hangingPunct="1">
              <a:defRPr sz="800" b="0" i="0" kern="1200">
                <a:solidFill>
                  <a:schemeClr val="tx1">
                    <a:lumMod val="50000"/>
                    <a:lumOff val="50000"/>
                  </a:schemeClr>
                </a:solidFill>
                <a:latin typeface="Sarabun Light" pitchFamily="2" charset="-34"/>
                <a:ea typeface="+mn-ea"/>
                <a:cs typeface="Sarabun Light" pitchFamily="2" charset="-34"/>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6F91CD73-D11E-4A01-9C29-C7344FBD827C}" type="slidenum">
              <a:rPr lang="en-US" sz="1200">
                <a:solidFill>
                  <a:schemeClr val="bg1"/>
                </a:solidFill>
                <a:latin typeface="Times New Roman" panose="02020603050405020304" pitchFamily="18" charset="0"/>
                <a:cs typeface="Times New Roman" panose="02020603050405020304" pitchFamily="18" charset="0"/>
              </a:rPr>
              <a:t>3</a:t>
            </a:fld>
            <a:endParaRPr lang="x-none" sz="1200" dirty="0">
              <a:solidFill>
                <a:schemeClr val="bg1"/>
              </a:solidFill>
              <a:latin typeface="Times New Roman" panose="02020603050405020304" pitchFamily="18" charset="0"/>
              <a:cs typeface="Times New Roman" panose="02020603050405020304" pitchFamily="18" charset="0"/>
            </a:endParaRPr>
          </a:p>
        </p:txBody>
      </p:sp>
      <p:sp>
        <p:nvSpPr>
          <p:cNvPr id="12" name="Text 0">
            <a:extLst>
              <a:ext uri="{FF2B5EF4-FFF2-40B4-BE49-F238E27FC236}">
                <a16:creationId xmlns:a16="http://schemas.microsoft.com/office/drawing/2014/main" id="{DDDE5A70-8B8B-8A9F-D559-5437FAC6455A}"/>
              </a:ext>
            </a:extLst>
          </p:cNvPr>
          <p:cNvSpPr/>
          <p:nvPr/>
        </p:nvSpPr>
        <p:spPr>
          <a:xfrm>
            <a:off x="416241" y="1459611"/>
            <a:ext cx="5303521" cy="1969389"/>
          </a:xfrm>
          <a:prstGeom prst="rect">
            <a:avLst/>
          </a:prstGeom>
          <a:noFill/>
          <a:ln/>
        </p:spPr>
        <p:txBody>
          <a:bodyPr wrap="square" rtlCol="0" anchor="t"/>
          <a:lstStyle/>
          <a:p>
            <a:pPr>
              <a:lnSpc>
                <a:spcPct val="110000"/>
              </a:lnSpc>
            </a:pPr>
            <a:r>
              <a:rPr lang="en-US" sz="3200" dirty="0">
                <a:solidFill>
                  <a:srgbClr val="EE0000"/>
                </a:solidFill>
              </a:rPr>
              <a:t>Vision for Safe Automation &amp;</a:t>
            </a:r>
            <a:br>
              <a:rPr lang="en-US" sz="3200" dirty="0">
                <a:solidFill>
                  <a:srgbClr val="EE0000"/>
                </a:solidFill>
              </a:rPr>
            </a:br>
            <a:r>
              <a:rPr lang="en-US" sz="3200" dirty="0">
                <a:solidFill>
                  <a:srgbClr val="EE0000"/>
                </a:solidFill>
              </a:rPr>
              <a:t>Commitment from Viettel AI</a:t>
            </a:r>
          </a:p>
        </p:txBody>
      </p:sp>
      <p:sp>
        <p:nvSpPr>
          <p:cNvPr id="16" name="Shape 1">
            <a:extLst>
              <a:ext uri="{FF2B5EF4-FFF2-40B4-BE49-F238E27FC236}">
                <a16:creationId xmlns:a16="http://schemas.microsoft.com/office/drawing/2014/main" id="{702B51F2-6F16-EC03-ADBF-4F09DC9B4AF0}"/>
              </a:ext>
            </a:extLst>
          </p:cNvPr>
          <p:cNvSpPr/>
          <p:nvPr/>
        </p:nvSpPr>
        <p:spPr>
          <a:xfrm>
            <a:off x="502920" y="3046667"/>
            <a:ext cx="5120640" cy="2596249"/>
          </a:xfrm>
          <a:prstGeom prst="rect">
            <a:avLst/>
          </a:prstGeom>
          <a:solidFill>
            <a:srgbClr val="FFFFFF"/>
          </a:solidFill>
          <a:ln w="31750">
            <a:solidFill>
              <a:srgbClr val="B7BBBF"/>
            </a:solidFill>
            <a:prstDash val="solid"/>
          </a:ln>
        </p:spPr>
        <p:txBody>
          <a:bodyPr/>
          <a:lstStyle/>
          <a:p>
            <a:endParaRPr lang="en-US"/>
          </a:p>
        </p:txBody>
      </p:sp>
      <p:sp>
        <p:nvSpPr>
          <p:cNvPr id="18" name="Text 2">
            <a:extLst>
              <a:ext uri="{FF2B5EF4-FFF2-40B4-BE49-F238E27FC236}">
                <a16:creationId xmlns:a16="http://schemas.microsoft.com/office/drawing/2014/main" id="{BA0A4D7C-F9D8-F595-3412-3C57CF8CBD92}"/>
              </a:ext>
            </a:extLst>
          </p:cNvPr>
          <p:cNvSpPr/>
          <p:nvPr/>
        </p:nvSpPr>
        <p:spPr>
          <a:xfrm>
            <a:off x="670560" y="3202115"/>
            <a:ext cx="4770120" cy="2130256"/>
          </a:xfrm>
          <a:prstGeom prst="rect">
            <a:avLst/>
          </a:prstGeom>
          <a:noFill/>
          <a:ln/>
        </p:spPr>
        <p:txBody>
          <a:bodyPr wrap="square" rtlCol="0" anchor="t"/>
          <a:lstStyle/>
          <a:p>
            <a:r>
              <a:rPr lang="en-US" sz="2000" i="1" dirty="0"/>
              <a:t>We deliver an enterprise-grade Agentic AI platform, fully self-sovereign, purpose-built exclusively for secure environment.</a:t>
            </a:r>
          </a:p>
          <a:p>
            <a:endParaRPr lang="en-US" sz="2000" i="1" dirty="0"/>
          </a:p>
          <a:p>
            <a:r>
              <a:rPr lang="en-US" sz="2000" i="1" dirty="0"/>
              <a:t>We don't just provide technology — we commit to real-world results.</a:t>
            </a:r>
          </a:p>
        </p:txBody>
      </p:sp>
      <p:sp>
        <p:nvSpPr>
          <p:cNvPr id="20" name="Shape 3">
            <a:extLst>
              <a:ext uri="{FF2B5EF4-FFF2-40B4-BE49-F238E27FC236}">
                <a16:creationId xmlns:a16="http://schemas.microsoft.com/office/drawing/2014/main" id="{0774EEAF-86D7-7A93-BA0E-FB42544E2A6E}"/>
              </a:ext>
            </a:extLst>
          </p:cNvPr>
          <p:cNvSpPr/>
          <p:nvPr/>
        </p:nvSpPr>
        <p:spPr>
          <a:xfrm>
            <a:off x="2105984" y="6230493"/>
            <a:ext cx="2011680" cy="0"/>
          </a:xfrm>
          <a:prstGeom prst="line">
            <a:avLst/>
          </a:prstGeom>
          <a:noFill/>
          <a:ln w="31750">
            <a:solidFill>
              <a:srgbClr val="E6062B"/>
            </a:solidFill>
            <a:prstDash val="solid"/>
          </a:ln>
        </p:spPr>
        <p:txBody>
          <a:bodyPr/>
          <a:lstStyle/>
          <a:p>
            <a:endParaRPr lang="en-US" dirty="0"/>
          </a:p>
        </p:txBody>
      </p:sp>
      <p:sp>
        <p:nvSpPr>
          <p:cNvPr id="22" name="Shape 4">
            <a:extLst>
              <a:ext uri="{FF2B5EF4-FFF2-40B4-BE49-F238E27FC236}">
                <a16:creationId xmlns:a16="http://schemas.microsoft.com/office/drawing/2014/main" id="{DD38D3D7-A113-64CE-D3CB-3279568021FA}"/>
              </a:ext>
            </a:extLst>
          </p:cNvPr>
          <p:cNvSpPr/>
          <p:nvPr/>
        </p:nvSpPr>
        <p:spPr>
          <a:xfrm>
            <a:off x="5989320" y="502920"/>
            <a:ext cx="5669280" cy="1810512"/>
          </a:xfrm>
          <a:prstGeom prst="rect">
            <a:avLst/>
          </a:prstGeom>
          <a:solidFill>
            <a:srgbClr val="DDE1E4"/>
          </a:solidFill>
          <a:ln w="12700">
            <a:solidFill>
              <a:srgbClr val="B7BBBF"/>
            </a:solidFill>
            <a:prstDash val="solid"/>
          </a:ln>
        </p:spPr>
        <p:txBody>
          <a:bodyPr/>
          <a:lstStyle/>
          <a:p>
            <a:endParaRPr lang="en-US"/>
          </a:p>
        </p:txBody>
      </p:sp>
      <p:sp>
        <p:nvSpPr>
          <p:cNvPr id="24" name="Shape 5">
            <a:extLst>
              <a:ext uri="{FF2B5EF4-FFF2-40B4-BE49-F238E27FC236}">
                <a16:creationId xmlns:a16="http://schemas.microsoft.com/office/drawing/2014/main" id="{851DAEAB-49FD-D466-FB74-4B3E0D4A0B6F}"/>
              </a:ext>
            </a:extLst>
          </p:cNvPr>
          <p:cNvSpPr/>
          <p:nvPr/>
        </p:nvSpPr>
        <p:spPr>
          <a:xfrm>
            <a:off x="5989320" y="502920"/>
            <a:ext cx="5669280" cy="82296"/>
          </a:xfrm>
          <a:prstGeom prst="rect">
            <a:avLst/>
          </a:prstGeom>
          <a:solidFill>
            <a:srgbClr val="E6062B"/>
          </a:solidFill>
          <a:ln/>
        </p:spPr>
        <p:txBody>
          <a:bodyPr/>
          <a:lstStyle/>
          <a:p>
            <a:endParaRPr lang="en-US"/>
          </a:p>
        </p:txBody>
      </p:sp>
      <p:sp>
        <p:nvSpPr>
          <p:cNvPr id="28" name="Shape 7">
            <a:extLst>
              <a:ext uri="{FF2B5EF4-FFF2-40B4-BE49-F238E27FC236}">
                <a16:creationId xmlns:a16="http://schemas.microsoft.com/office/drawing/2014/main" id="{E4F70C04-46C8-D53B-CBC6-94F01445A971}"/>
              </a:ext>
            </a:extLst>
          </p:cNvPr>
          <p:cNvSpPr/>
          <p:nvPr/>
        </p:nvSpPr>
        <p:spPr>
          <a:xfrm>
            <a:off x="8366760" y="1408176"/>
            <a:ext cx="502920" cy="0"/>
          </a:xfrm>
          <a:prstGeom prst="line">
            <a:avLst/>
          </a:prstGeom>
          <a:noFill/>
          <a:ln w="22225">
            <a:solidFill>
              <a:srgbClr val="E6062B"/>
            </a:solidFill>
            <a:prstDash val="solid"/>
            <a:tailEnd type="triangle"/>
          </a:ln>
        </p:spPr>
        <p:txBody>
          <a:bodyPr/>
          <a:lstStyle/>
          <a:p>
            <a:endParaRPr lang="en-US"/>
          </a:p>
        </p:txBody>
      </p:sp>
      <p:sp>
        <p:nvSpPr>
          <p:cNvPr id="30" name="Text 8">
            <a:extLst>
              <a:ext uri="{FF2B5EF4-FFF2-40B4-BE49-F238E27FC236}">
                <a16:creationId xmlns:a16="http://schemas.microsoft.com/office/drawing/2014/main" id="{04EFD84F-5BD4-0843-7ABE-87F9FBFA003D}"/>
              </a:ext>
            </a:extLst>
          </p:cNvPr>
          <p:cNvSpPr/>
          <p:nvPr/>
        </p:nvSpPr>
        <p:spPr>
          <a:xfrm>
            <a:off x="9006840" y="640080"/>
            <a:ext cx="2651760" cy="1536192"/>
          </a:xfrm>
          <a:prstGeom prst="rect">
            <a:avLst/>
          </a:prstGeom>
          <a:noFill/>
          <a:ln/>
        </p:spPr>
        <p:txBody>
          <a:bodyPr wrap="square" rtlCol="0" anchor="ctr"/>
          <a:lstStyle/>
          <a:p>
            <a:pPr>
              <a:lnSpc>
                <a:spcPct val="110000"/>
              </a:lnSpc>
            </a:pPr>
            <a:r>
              <a:rPr lang="en-US" sz="2000" b="1" dirty="0"/>
              <a:t>On-</a:t>
            </a:r>
            <a:r>
              <a:rPr lang="vi-VN" sz="2000" b="1" dirty="0"/>
              <a:t>Premises/ Cloud</a:t>
            </a:r>
            <a:r>
              <a:rPr lang="en-US" sz="2000" b="1" dirty="0"/>
              <a:t> </a:t>
            </a:r>
            <a:r>
              <a:rPr lang="en-US" sz="2000" dirty="0"/>
              <a:t>Deployment &amp; Data Sovereignty</a:t>
            </a:r>
          </a:p>
        </p:txBody>
      </p:sp>
      <p:sp>
        <p:nvSpPr>
          <p:cNvPr id="32" name="Shape 9">
            <a:extLst>
              <a:ext uri="{FF2B5EF4-FFF2-40B4-BE49-F238E27FC236}">
                <a16:creationId xmlns:a16="http://schemas.microsoft.com/office/drawing/2014/main" id="{67FE07EA-62B4-8F86-B0EB-2CBDFCCE9CCA}"/>
              </a:ext>
            </a:extLst>
          </p:cNvPr>
          <p:cNvSpPr/>
          <p:nvPr/>
        </p:nvSpPr>
        <p:spPr>
          <a:xfrm>
            <a:off x="5989320" y="2478024"/>
            <a:ext cx="5669280" cy="1810512"/>
          </a:xfrm>
          <a:prstGeom prst="rect">
            <a:avLst/>
          </a:prstGeom>
          <a:solidFill>
            <a:srgbClr val="DDE1E4"/>
          </a:solidFill>
          <a:ln w="12700">
            <a:solidFill>
              <a:srgbClr val="B7BBBF"/>
            </a:solidFill>
            <a:prstDash val="solid"/>
          </a:ln>
        </p:spPr>
        <p:txBody>
          <a:bodyPr/>
          <a:lstStyle/>
          <a:p>
            <a:endParaRPr lang="en-US"/>
          </a:p>
        </p:txBody>
      </p:sp>
      <p:sp>
        <p:nvSpPr>
          <p:cNvPr id="34" name="Shape 10">
            <a:extLst>
              <a:ext uri="{FF2B5EF4-FFF2-40B4-BE49-F238E27FC236}">
                <a16:creationId xmlns:a16="http://schemas.microsoft.com/office/drawing/2014/main" id="{55F2A320-72CF-E6C7-CA88-E16C0BF2FB14}"/>
              </a:ext>
            </a:extLst>
          </p:cNvPr>
          <p:cNvSpPr/>
          <p:nvPr/>
        </p:nvSpPr>
        <p:spPr>
          <a:xfrm>
            <a:off x="5989320" y="2478024"/>
            <a:ext cx="5669280" cy="82296"/>
          </a:xfrm>
          <a:prstGeom prst="rect">
            <a:avLst/>
          </a:prstGeom>
          <a:solidFill>
            <a:srgbClr val="E6062B"/>
          </a:solidFill>
          <a:ln/>
        </p:spPr>
        <p:txBody>
          <a:bodyPr/>
          <a:lstStyle/>
          <a:p>
            <a:endParaRPr lang="en-US"/>
          </a:p>
        </p:txBody>
      </p:sp>
      <p:sp>
        <p:nvSpPr>
          <p:cNvPr id="36" name="Text 11">
            <a:extLst>
              <a:ext uri="{FF2B5EF4-FFF2-40B4-BE49-F238E27FC236}">
                <a16:creationId xmlns:a16="http://schemas.microsoft.com/office/drawing/2014/main" id="{CCA9BCF3-A833-4093-0F02-A97DBDC2F571}"/>
              </a:ext>
            </a:extLst>
          </p:cNvPr>
          <p:cNvSpPr/>
          <p:nvPr/>
        </p:nvSpPr>
        <p:spPr>
          <a:xfrm>
            <a:off x="6172200" y="2615184"/>
            <a:ext cx="1715814" cy="1536192"/>
          </a:xfrm>
          <a:prstGeom prst="rect">
            <a:avLst/>
          </a:prstGeom>
          <a:noFill/>
          <a:ln/>
        </p:spPr>
        <p:txBody>
          <a:bodyPr wrap="square" rtlCol="0" anchor="ctr"/>
          <a:lstStyle/>
          <a:p>
            <a:pPr marL="0" indent="0" algn="l">
              <a:buNone/>
            </a:pPr>
            <a:endParaRPr lang="en-US" sz="6000" dirty="0"/>
          </a:p>
        </p:txBody>
      </p:sp>
      <p:sp>
        <p:nvSpPr>
          <p:cNvPr id="38" name="Shape 12">
            <a:extLst>
              <a:ext uri="{FF2B5EF4-FFF2-40B4-BE49-F238E27FC236}">
                <a16:creationId xmlns:a16="http://schemas.microsoft.com/office/drawing/2014/main" id="{71C222CC-15B0-3A1A-35E7-9889B448BD2B}"/>
              </a:ext>
            </a:extLst>
          </p:cNvPr>
          <p:cNvSpPr/>
          <p:nvPr/>
        </p:nvSpPr>
        <p:spPr>
          <a:xfrm>
            <a:off x="7572375" y="3383280"/>
            <a:ext cx="1297305" cy="0"/>
          </a:xfrm>
          <a:prstGeom prst="line">
            <a:avLst/>
          </a:prstGeom>
          <a:noFill/>
          <a:ln w="22225">
            <a:solidFill>
              <a:srgbClr val="E6062B"/>
            </a:solidFill>
            <a:prstDash val="solid"/>
            <a:tailEnd type="triangle"/>
          </a:ln>
        </p:spPr>
        <p:txBody>
          <a:bodyPr/>
          <a:lstStyle/>
          <a:p>
            <a:endParaRPr lang="en-US"/>
          </a:p>
        </p:txBody>
      </p:sp>
      <p:sp>
        <p:nvSpPr>
          <p:cNvPr id="40" name="Text 13">
            <a:extLst>
              <a:ext uri="{FF2B5EF4-FFF2-40B4-BE49-F238E27FC236}">
                <a16:creationId xmlns:a16="http://schemas.microsoft.com/office/drawing/2014/main" id="{75F7E3D8-2130-75D1-3353-98BB6983FDDF}"/>
              </a:ext>
            </a:extLst>
          </p:cNvPr>
          <p:cNvSpPr/>
          <p:nvPr/>
        </p:nvSpPr>
        <p:spPr>
          <a:xfrm>
            <a:off x="9006840" y="2615184"/>
            <a:ext cx="2514600" cy="1536192"/>
          </a:xfrm>
          <a:prstGeom prst="rect">
            <a:avLst/>
          </a:prstGeom>
          <a:noFill/>
          <a:ln/>
        </p:spPr>
        <p:txBody>
          <a:bodyPr wrap="square" rtlCol="0" anchor="ctr"/>
          <a:lstStyle/>
          <a:p>
            <a:r>
              <a:rPr lang="en-US" sz="2000" b="1" dirty="0"/>
              <a:t>Agentic AI Use Cases </a:t>
            </a:r>
            <a:r>
              <a:rPr lang="en-US" sz="2000" dirty="0"/>
              <a:t>fully delivered.</a:t>
            </a:r>
            <a:endParaRPr lang="en-US" sz="2000" dirty="0">
              <a:effectLst/>
            </a:endParaRPr>
          </a:p>
        </p:txBody>
      </p:sp>
      <p:sp>
        <p:nvSpPr>
          <p:cNvPr id="42" name="Shape 14">
            <a:extLst>
              <a:ext uri="{FF2B5EF4-FFF2-40B4-BE49-F238E27FC236}">
                <a16:creationId xmlns:a16="http://schemas.microsoft.com/office/drawing/2014/main" id="{F50B3123-6F1C-41A9-3892-B1ED7BE7E388}"/>
              </a:ext>
            </a:extLst>
          </p:cNvPr>
          <p:cNvSpPr/>
          <p:nvPr/>
        </p:nvSpPr>
        <p:spPr>
          <a:xfrm>
            <a:off x="5989320" y="4453128"/>
            <a:ext cx="5669280" cy="1810512"/>
          </a:xfrm>
          <a:prstGeom prst="rect">
            <a:avLst/>
          </a:prstGeom>
          <a:solidFill>
            <a:srgbClr val="DDE1E4"/>
          </a:solidFill>
          <a:ln w="12700">
            <a:solidFill>
              <a:srgbClr val="B7BBBF"/>
            </a:solidFill>
            <a:prstDash val="solid"/>
          </a:ln>
        </p:spPr>
        <p:txBody>
          <a:bodyPr/>
          <a:lstStyle/>
          <a:p>
            <a:endParaRPr lang="en-US"/>
          </a:p>
        </p:txBody>
      </p:sp>
      <p:sp>
        <p:nvSpPr>
          <p:cNvPr id="44" name="Shape 15">
            <a:extLst>
              <a:ext uri="{FF2B5EF4-FFF2-40B4-BE49-F238E27FC236}">
                <a16:creationId xmlns:a16="http://schemas.microsoft.com/office/drawing/2014/main" id="{18613D42-184F-55D9-3A08-1A6B137C0CC7}"/>
              </a:ext>
            </a:extLst>
          </p:cNvPr>
          <p:cNvSpPr/>
          <p:nvPr/>
        </p:nvSpPr>
        <p:spPr>
          <a:xfrm>
            <a:off x="5989320" y="4453128"/>
            <a:ext cx="5669280" cy="82296"/>
          </a:xfrm>
          <a:prstGeom prst="rect">
            <a:avLst/>
          </a:prstGeom>
          <a:solidFill>
            <a:srgbClr val="E6062B"/>
          </a:solidFill>
          <a:ln/>
        </p:spPr>
        <p:txBody>
          <a:bodyPr/>
          <a:lstStyle/>
          <a:p>
            <a:endParaRPr lang="en-US"/>
          </a:p>
        </p:txBody>
      </p:sp>
      <p:sp>
        <p:nvSpPr>
          <p:cNvPr id="46" name="Text 16">
            <a:extLst>
              <a:ext uri="{FF2B5EF4-FFF2-40B4-BE49-F238E27FC236}">
                <a16:creationId xmlns:a16="http://schemas.microsoft.com/office/drawing/2014/main" id="{BBC2BF4D-EA6B-A48A-2050-95A4EED4281B}"/>
              </a:ext>
            </a:extLst>
          </p:cNvPr>
          <p:cNvSpPr/>
          <p:nvPr/>
        </p:nvSpPr>
        <p:spPr>
          <a:xfrm>
            <a:off x="6172200" y="4590288"/>
            <a:ext cx="2103120" cy="1536192"/>
          </a:xfrm>
          <a:prstGeom prst="rect">
            <a:avLst/>
          </a:prstGeom>
          <a:noFill/>
          <a:ln/>
        </p:spPr>
        <p:txBody>
          <a:bodyPr wrap="square" rtlCol="0" anchor="ctr"/>
          <a:lstStyle/>
          <a:p>
            <a:pPr marL="0" indent="0" algn="l">
              <a:buNone/>
            </a:pPr>
            <a:endParaRPr lang="en-US" sz="6000" dirty="0"/>
          </a:p>
        </p:txBody>
      </p:sp>
      <p:sp>
        <p:nvSpPr>
          <p:cNvPr id="48" name="Shape 17">
            <a:extLst>
              <a:ext uri="{FF2B5EF4-FFF2-40B4-BE49-F238E27FC236}">
                <a16:creationId xmlns:a16="http://schemas.microsoft.com/office/drawing/2014/main" id="{89112CAC-C346-09BE-956B-3F0F39D1BF76}"/>
              </a:ext>
            </a:extLst>
          </p:cNvPr>
          <p:cNvSpPr/>
          <p:nvPr/>
        </p:nvSpPr>
        <p:spPr>
          <a:xfrm>
            <a:off x="6743700" y="5358384"/>
            <a:ext cx="2125980" cy="0"/>
          </a:xfrm>
          <a:prstGeom prst="line">
            <a:avLst/>
          </a:prstGeom>
          <a:noFill/>
          <a:ln w="22225">
            <a:solidFill>
              <a:srgbClr val="E6062B"/>
            </a:solidFill>
            <a:prstDash val="solid"/>
            <a:tailEnd type="triangle"/>
          </a:ln>
        </p:spPr>
        <p:txBody>
          <a:bodyPr/>
          <a:lstStyle/>
          <a:p>
            <a:endParaRPr lang="en-US"/>
          </a:p>
        </p:txBody>
      </p:sp>
      <p:sp>
        <p:nvSpPr>
          <p:cNvPr id="50" name="Text 18">
            <a:extLst>
              <a:ext uri="{FF2B5EF4-FFF2-40B4-BE49-F238E27FC236}">
                <a16:creationId xmlns:a16="http://schemas.microsoft.com/office/drawing/2014/main" id="{12B331E3-6DA4-63E0-6B73-D68B0B5CB026}"/>
              </a:ext>
            </a:extLst>
          </p:cNvPr>
          <p:cNvSpPr/>
          <p:nvPr/>
        </p:nvSpPr>
        <p:spPr>
          <a:xfrm>
            <a:off x="9006840" y="4590288"/>
            <a:ext cx="2514600" cy="1536192"/>
          </a:xfrm>
          <a:prstGeom prst="rect">
            <a:avLst/>
          </a:prstGeom>
          <a:noFill/>
          <a:ln/>
        </p:spPr>
        <p:txBody>
          <a:bodyPr wrap="square" rtlCol="0" anchor="ctr"/>
          <a:lstStyle/>
          <a:p>
            <a:pPr>
              <a:lnSpc>
                <a:spcPct val="110000"/>
              </a:lnSpc>
            </a:pPr>
            <a:r>
              <a:rPr lang="en-US" sz="2000" b="1" dirty="0"/>
              <a:t>Non-technical UX</a:t>
            </a:r>
          </a:p>
        </p:txBody>
      </p:sp>
    </p:spTree>
    <p:extLst>
      <p:ext uri="{BB962C8B-B14F-4D97-AF65-F5344CB8AC3E}">
        <p14:creationId xmlns:p14="http://schemas.microsoft.com/office/powerpoint/2010/main" val="478786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FABFF-B9AC-CA35-6D10-B9BCF3A8009B}"/>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44768472-EB6A-E5C8-A93A-8C0FC592856A}"/>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1039103" y="142968"/>
            <a:ext cx="996543" cy="365125"/>
          </a:xfrm>
          <a:prstGeom prst="rect">
            <a:avLst/>
          </a:prstGeom>
        </p:spPr>
      </p:pic>
      <p:pic>
        <p:nvPicPr>
          <p:cNvPr id="8" name="Graphic 17">
            <a:extLst>
              <a:ext uri="{FF2B5EF4-FFF2-40B4-BE49-F238E27FC236}">
                <a16:creationId xmlns:a16="http://schemas.microsoft.com/office/drawing/2014/main" id="{4E750064-6B4D-E923-36F4-7A82810D9155}"/>
              </a:ext>
            </a:extLst>
          </p:cNvPr>
          <p:cNvPicPr>
            <a:picLocks noChangeAspect="1"/>
          </p:cNvPicPr>
          <p:nvPr/>
        </p:nvPicPr>
        <p:blipFill>
          <a:blip r:embed="rId4"/>
          <a:stretch>
            <a:fillRect/>
          </a:stretch>
        </p:blipFill>
        <p:spPr>
          <a:xfrm rot="-1200000">
            <a:off x="11776726" y="6358822"/>
            <a:ext cx="429809" cy="428855"/>
          </a:xfrm>
          <a:prstGeom prst="rect">
            <a:avLst/>
          </a:prstGeom>
          <a:effectLst/>
        </p:spPr>
      </p:pic>
      <p:sp>
        <p:nvSpPr>
          <p:cNvPr id="10" name="Slide Number Placeholder 5">
            <a:extLst>
              <a:ext uri="{FF2B5EF4-FFF2-40B4-BE49-F238E27FC236}">
                <a16:creationId xmlns:a16="http://schemas.microsoft.com/office/drawing/2014/main" id="{51F3D5E8-8806-3730-661E-9682232504E0}"/>
              </a:ext>
            </a:extLst>
          </p:cNvPr>
          <p:cNvSpPr txBox="1">
            <a:spLocks/>
          </p:cNvSpPr>
          <p:nvPr/>
        </p:nvSpPr>
        <p:spPr>
          <a:xfrm>
            <a:off x="11794439" y="6315327"/>
            <a:ext cx="364800" cy="364800"/>
          </a:xfrm>
          <a:prstGeom prst="rect">
            <a:avLst/>
          </a:prstGeom>
        </p:spPr>
        <p:txBody>
          <a:bodyPr vert="horz" lIns="62400" tIns="62400" rIns="62400" bIns="60960" rtlCol="0" anchor="ctr"/>
          <a:lstStyle>
            <a:defPPr>
              <a:defRPr lang="en-US"/>
            </a:defPPr>
            <a:lvl1pPr marL="0" algn="ctr" defTabSz="685800" rtl="0" eaLnBrk="1" latinLnBrk="0" hangingPunct="1">
              <a:defRPr sz="800" b="0" i="0" kern="1200">
                <a:solidFill>
                  <a:schemeClr val="tx1">
                    <a:lumMod val="50000"/>
                    <a:lumOff val="50000"/>
                  </a:schemeClr>
                </a:solidFill>
                <a:latin typeface="Sarabun Light" pitchFamily="2" charset="-34"/>
                <a:ea typeface="+mn-ea"/>
                <a:cs typeface="Sarabun Light" pitchFamily="2" charset="-34"/>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6F91CD73-D11E-4A01-9C29-C7344FBD827C}" type="slidenum">
              <a:rPr lang="en-US" sz="1200">
                <a:solidFill>
                  <a:schemeClr val="bg1"/>
                </a:solidFill>
                <a:latin typeface="Times New Roman" panose="02020603050405020304" pitchFamily="18" charset="0"/>
                <a:cs typeface="Times New Roman" panose="02020603050405020304" pitchFamily="18" charset="0"/>
              </a:rPr>
              <a:t>4</a:t>
            </a:fld>
            <a:endParaRPr lang="x-none" sz="1200" dirty="0">
              <a:solidFill>
                <a:schemeClr val="bg1"/>
              </a:solidFill>
              <a:latin typeface="Times New Roman" panose="02020603050405020304" pitchFamily="18" charset="0"/>
              <a:cs typeface="Times New Roman" panose="02020603050405020304" pitchFamily="18" charset="0"/>
            </a:endParaRPr>
          </a:p>
        </p:txBody>
      </p:sp>
      <p:sp>
        <p:nvSpPr>
          <p:cNvPr id="3" name="Text 0">
            <a:extLst>
              <a:ext uri="{FF2B5EF4-FFF2-40B4-BE49-F238E27FC236}">
                <a16:creationId xmlns:a16="http://schemas.microsoft.com/office/drawing/2014/main" id="{73835460-7C18-5E16-25BF-CCE47A3B456A}"/>
              </a:ext>
            </a:extLst>
          </p:cNvPr>
          <p:cNvSpPr/>
          <p:nvPr/>
        </p:nvSpPr>
        <p:spPr>
          <a:xfrm>
            <a:off x="457200" y="320040"/>
            <a:ext cx="11274552" cy="750737"/>
          </a:xfrm>
          <a:prstGeom prst="rect">
            <a:avLst/>
          </a:prstGeom>
          <a:noFill/>
          <a:ln/>
        </p:spPr>
        <p:txBody>
          <a:bodyPr wrap="square" rtlCol="0" anchor="t"/>
          <a:lstStyle/>
          <a:p>
            <a:r>
              <a:rPr lang="en-US" sz="4000" b="1" dirty="0">
                <a:solidFill>
                  <a:srgbClr val="EE0000"/>
                </a:solidFill>
              </a:rPr>
              <a:t>4 Value Pillars Shaping the AI Agent Platform</a:t>
            </a:r>
          </a:p>
        </p:txBody>
      </p:sp>
      <p:sp>
        <p:nvSpPr>
          <p:cNvPr id="5" name="Shape 1">
            <a:extLst>
              <a:ext uri="{FF2B5EF4-FFF2-40B4-BE49-F238E27FC236}">
                <a16:creationId xmlns:a16="http://schemas.microsoft.com/office/drawing/2014/main" id="{04A1CE92-A076-66AA-7B98-CD1A4C64403E}"/>
              </a:ext>
            </a:extLst>
          </p:cNvPr>
          <p:cNvSpPr/>
          <p:nvPr/>
        </p:nvSpPr>
        <p:spPr>
          <a:xfrm>
            <a:off x="457200" y="1737360"/>
            <a:ext cx="2697480" cy="4480560"/>
          </a:xfrm>
          <a:prstGeom prst="rect">
            <a:avLst/>
          </a:prstGeom>
          <a:solidFill>
            <a:srgbClr val="DDE1E4"/>
          </a:solidFill>
          <a:ln w="12700">
            <a:solidFill>
              <a:srgbClr val="B7BBBF"/>
            </a:solidFill>
            <a:prstDash val="solid"/>
          </a:ln>
        </p:spPr>
        <p:txBody>
          <a:bodyPr/>
          <a:lstStyle/>
          <a:p>
            <a:endParaRPr lang="en-US"/>
          </a:p>
        </p:txBody>
      </p:sp>
      <p:sp>
        <p:nvSpPr>
          <p:cNvPr id="29" name="Text 7">
            <a:extLst>
              <a:ext uri="{FF2B5EF4-FFF2-40B4-BE49-F238E27FC236}">
                <a16:creationId xmlns:a16="http://schemas.microsoft.com/office/drawing/2014/main" id="{12781100-DAFF-C75B-F429-C8E2D388D53C}"/>
              </a:ext>
            </a:extLst>
          </p:cNvPr>
          <p:cNvSpPr/>
          <p:nvPr/>
        </p:nvSpPr>
        <p:spPr>
          <a:xfrm>
            <a:off x="640080" y="3722537"/>
            <a:ext cx="2691384" cy="777240"/>
          </a:xfrm>
          <a:prstGeom prst="rect">
            <a:avLst/>
          </a:prstGeom>
          <a:noFill/>
          <a:ln/>
        </p:spPr>
        <p:txBody>
          <a:bodyPr wrap="square" rtlCol="0" anchor="t"/>
          <a:lstStyle/>
          <a:p>
            <a:pPr>
              <a:lnSpc>
                <a:spcPct val="105000"/>
              </a:lnSpc>
            </a:pPr>
            <a:r>
              <a:rPr lang="en-US" sz="1600" b="1" dirty="0">
                <a:solidFill>
                  <a:srgbClr val="EE0000"/>
                </a:solidFill>
              </a:rPr>
              <a:t>Absolute</a:t>
            </a:r>
            <a:r>
              <a:rPr lang="en-US" sz="1600" b="1" dirty="0"/>
              <a:t> Data Sovereignty</a:t>
            </a:r>
          </a:p>
        </p:txBody>
      </p:sp>
      <p:sp>
        <p:nvSpPr>
          <p:cNvPr id="33" name="Text 8">
            <a:extLst>
              <a:ext uri="{FF2B5EF4-FFF2-40B4-BE49-F238E27FC236}">
                <a16:creationId xmlns:a16="http://schemas.microsoft.com/office/drawing/2014/main" id="{84700E8D-D3D3-5951-ED5C-E9262E0226CD}"/>
              </a:ext>
            </a:extLst>
          </p:cNvPr>
          <p:cNvSpPr/>
          <p:nvPr/>
        </p:nvSpPr>
        <p:spPr>
          <a:xfrm>
            <a:off x="640079" y="4085304"/>
            <a:ext cx="2455029" cy="2194560"/>
          </a:xfrm>
          <a:prstGeom prst="rect">
            <a:avLst/>
          </a:prstGeom>
          <a:noFill/>
          <a:ln/>
        </p:spPr>
        <p:txBody>
          <a:bodyPr wrap="square" rtlCol="0" anchor="t"/>
          <a:lstStyle/>
          <a:p>
            <a:pPr>
              <a:lnSpc>
                <a:spcPct val="118000"/>
              </a:lnSpc>
            </a:pPr>
            <a:r>
              <a:rPr lang="en-US" sz="1600" dirty="0"/>
              <a:t>The entire application stack, database, and inference run 100% within the internal system (K8s) cluster. No data is used for external models.</a:t>
            </a:r>
          </a:p>
        </p:txBody>
      </p:sp>
      <p:sp>
        <p:nvSpPr>
          <p:cNvPr id="37" name="Shape 9">
            <a:extLst>
              <a:ext uri="{FF2B5EF4-FFF2-40B4-BE49-F238E27FC236}">
                <a16:creationId xmlns:a16="http://schemas.microsoft.com/office/drawing/2014/main" id="{FC4E3D59-B3D7-BE0E-54AC-EB9395E71EA5}"/>
              </a:ext>
            </a:extLst>
          </p:cNvPr>
          <p:cNvSpPr/>
          <p:nvPr/>
        </p:nvSpPr>
        <p:spPr>
          <a:xfrm>
            <a:off x="3319272" y="1748792"/>
            <a:ext cx="2697480" cy="4480560"/>
          </a:xfrm>
          <a:prstGeom prst="rect">
            <a:avLst/>
          </a:prstGeom>
          <a:solidFill>
            <a:srgbClr val="DDE1E4"/>
          </a:solidFill>
          <a:ln w="12700">
            <a:solidFill>
              <a:srgbClr val="B7BBBF"/>
            </a:solidFill>
            <a:prstDash val="solid"/>
          </a:ln>
        </p:spPr>
        <p:txBody>
          <a:bodyPr/>
          <a:lstStyle/>
          <a:p>
            <a:endParaRPr lang="en-US" dirty="0"/>
          </a:p>
        </p:txBody>
      </p:sp>
      <p:sp>
        <p:nvSpPr>
          <p:cNvPr id="49" name="Text 12">
            <a:extLst>
              <a:ext uri="{FF2B5EF4-FFF2-40B4-BE49-F238E27FC236}">
                <a16:creationId xmlns:a16="http://schemas.microsoft.com/office/drawing/2014/main" id="{480E591F-AFA5-03DF-6ED5-57429DF0B3D5}"/>
              </a:ext>
            </a:extLst>
          </p:cNvPr>
          <p:cNvSpPr/>
          <p:nvPr/>
        </p:nvSpPr>
        <p:spPr>
          <a:xfrm>
            <a:off x="3496056" y="3752684"/>
            <a:ext cx="2514600" cy="411480"/>
          </a:xfrm>
          <a:prstGeom prst="rect">
            <a:avLst/>
          </a:prstGeom>
          <a:noFill/>
          <a:ln/>
        </p:spPr>
        <p:txBody>
          <a:bodyPr wrap="square" rtlCol="0" anchor="t"/>
          <a:lstStyle/>
          <a:p>
            <a:pPr>
              <a:lnSpc>
                <a:spcPct val="105000"/>
              </a:lnSpc>
            </a:pPr>
            <a:r>
              <a:rPr lang="en-US" sz="1600" b="1" dirty="0"/>
              <a:t>LLM Vendor </a:t>
            </a:r>
            <a:r>
              <a:rPr lang="en-US" sz="1600" b="1" dirty="0">
                <a:solidFill>
                  <a:srgbClr val="EE0000"/>
                </a:solidFill>
              </a:rPr>
              <a:t>Independence</a:t>
            </a:r>
          </a:p>
        </p:txBody>
      </p:sp>
      <p:sp>
        <p:nvSpPr>
          <p:cNvPr id="52" name="Text 13">
            <a:extLst>
              <a:ext uri="{FF2B5EF4-FFF2-40B4-BE49-F238E27FC236}">
                <a16:creationId xmlns:a16="http://schemas.microsoft.com/office/drawing/2014/main" id="{E6CEEE56-74DE-CC2E-6313-DF6C21DD5739}"/>
              </a:ext>
            </a:extLst>
          </p:cNvPr>
          <p:cNvSpPr/>
          <p:nvPr/>
        </p:nvSpPr>
        <p:spPr>
          <a:xfrm>
            <a:off x="3497444" y="4030648"/>
            <a:ext cx="2455029" cy="2194560"/>
          </a:xfrm>
          <a:prstGeom prst="rect">
            <a:avLst/>
          </a:prstGeom>
          <a:noFill/>
          <a:ln/>
        </p:spPr>
        <p:txBody>
          <a:bodyPr wrap="square" rtlCol="0" anchor="t"/>
          <a:lstStyle/>
          <a:p>
            <a:pPr>
              <a:lnSpc>
                <a:spcPct val="118000"/>
              </a:lnSpc>
            </a:pPr>
            <a:r>
              <a:rPr lang="en-US" sz="1600" dirty="0"/>
              <a:t>Standardizes every LLM (local &amp; commercial) into a single interface. Proactively swap models, route traffic, and control budget — all without disrupting the architecture.</a:t>
            </a:r>
          </a:p>
        </p:txBody>
      </p:sp>
      <p:sp>
        <p:nvSpPr>
          <p:cNvPr id="54" name="Shape 14">
            <a:extLst>
              <a:ext uri="{FF2B5EF4-FFF2-40B4-BE49-F238E27FC236}">
                <a16:creationId xmlns:a16="http://schemas.microsoft.com/office/drawing/2014/main" id="{773E31FD-62D5-DFCD-FD20-1E97E28BCBCE}"/>
              </a:ext>
            </a:extLst>
          </p:cNvPr>
          <p:cNvSpPr/>
          <p:nvPr/>
        </p:nvSpPr>
        <p:spPr>
          <a:xfrm>
            <a:off x="6181344" y="1737360"/>
            <a:ext cx="2697480" cy="4480560"/>
          </a:xfrm>
          <a:prstGeom prst="rect">
            <a:avLst/>
          </a:prstGeom>
          <a:solidFill>
            <a:srgbClr val="DDE1E4"/>
          </a:solidFill>
          <a:ln w="12700">
            <a:solidFill>
              <a:srgbClr val="B7BBBF"/>
            </a:solidFill>
            <a:prstDash val="solid"/>
          </a:ln>
        </p:spPr>
        <p:txBody>
          <a:bodyPr/>
          <a:lstStyle/>
          <a:p>
            <a:endParaRPr lang="en-US" dirty="0"/>
          </a:p>
        </p:txBody>
      </p:sp>
      <p:sp>
        <p:nvSpPr>
          <p:cNvPr id="62" name="Text 18">
            <a:extLst>
              <a:ext uri="{FF2B5EF4-FFF2-40B4-BE49-F238E27FC236}">
                <a16:creationId xmlns:a16="http://schemas.microsoft.com/office/drawing/2014/main" id="{481FA64A-EF7A-9E6C-FDAA-60068C24D3F1}"/>
              </a:ext>
            </a:extLst>
          </p:cNvPr>
          <p:cNvSpPr/>
          <p:nvPr/>
        </p:nvSpPr>
        <p:spPr>
          <a:xfrm>
            <a:off x="6364224" y="3063240"/>
            <a:ext cx="2331720" cy="777240"/>
          </a:xfrm>
          <a:prstGeom prst="rect">
            <a:avLst/>
          </a:prstGeom>
          <a:noFill/>
          <a:ln/>
        </p:spPr>
        <p:txBody>
          <a:bodyPr wrap="square" rtlCol="0" anchor="t"/>
          <a:lstStyle/>
          <a:p>
            <a:pPr marL="0" indent="0" algn="l">
              <a:lnSpc>
                <a:spcPct val="105000"/>
              </a:lnSpc>
              <a:buNone/>
            </a:pPr>
            <a:endParaRPr lang="en-US" sz="1600" dirty="0"/>
          </a:p>
        </p:txBody>
      </p:sp>
      <p:sp>
        <p:nvSpPr>
          <p:cNvPr id="64" name="Text 19">
            <a:extLst>
              <a:ext uri="{FF2B5EF4-FFF2-40B4-BE49-F238E27FC236}">
                <a16:creationId xmlns:a16="http://schemas.microsoft.com/office/drawing/2014/main" id="{58101DDF-1CE5-5A5B-BDED-B0F6D6C9FC71}"/>
              </a:ext>
            </a:extLst>
          </p:cNvPr>
          <p:cNvSpPr/>
          <p:nvPr/>
        </p:nvSpPr>
        <p:spPr>
          <a:xfrm>
            <a:off x="6364224" y="4014780"/>
            <a:ext cx="2331720" cy="2194560"/>
          </a:xfrm>
          <a:prstGeom prst="rect">
            <a:avLst/>
          </a:prstGeom>
          <a:noFill/>
          <a:ln/>
        </p:spPr>
        <p:txBody>
          <a:bodyPr wrap="square" rtlCol="0" anchor="t"/>
          <a:lstStyle/>
          <a:p>
            <a:pPr>
              <a:lnSpc>
                <a:spcPct val="118000"/>
              </a:lnSpc>
            </a:pPr>
            <a:r>
              <a:rPr lang="en-US" sz="1600" dirty="0"/>
              <a:t>Design conversations, assign Skills, and manage RAG entirely through a drag-and-drop Web-CMS.</a:t>
            </a:r>
          </a:p>
        </p:txBody>
      </p:sp>
      <p:sp>
        <p:nvSpPr>
          <p:cNvPr id="66" name="Shape 20">
            <a:extLst>
              <a:ext uri="{FF2B5EF4-FFF2-40B4-BE49-F238E27FC236}">
                <a16:creationId xmlns:a16="http://schemas.microsoft.com/office/drawing/2014/main" id="{17A1A196-5896-2301-3EC0-AE68599C3B06}"/>
              </a:ext>
            </a:extLst>
          </p:cNvPr>
          <p:cNvSpPr/>
          <p:nvPr/>
        </p:nvSpPr>
        <p:spPr>
          <a:xfrm>
            <a:off x="9043416" y="1737360"/>
            <a:ext cx="2697480" cy="4480560"/>
          </a:xfrm>
          <a:prstGeom prst="rect">
            <a:avLst/>
          </a:prstGeom>
          <a:solidFill>
            <a:srgbClr val="DDE1E4"/>
          </a:solidFill>
          <a:ln w="12700">
            <a:solidFill>
              <a:srgbClr val="B7BBBF"/>
            </a:solidFill>
            <a:prstDash val="solid"/>
          </a:ln>
        </p:spPr>
        <p:txBody>
          <a:bodyPr/>
          <a:lstStyle/>
          <a:p>
            <a:endParaRPr lang="en-US"/>
          </a:p>
        </p:txBody>
      </p:sp>
      <p:sp>
        <p:nvSpPr>
          <p:cNvPr id="72" name="Text 23">
            <a:extLst>
              <a:ext uri="{FF2B5EF4-FFF2-40B4-BE49-F238E27FC236}">
                <a16:creationId xmlns:a16="http://schemas.microsoft.com/office/drawing/2014/main" id="{1DC79877-626C-8824-A013-E635F30FFA19}"/>
              </a:ext>
            </a:extLst>
          </p:cNvPr>
          <p:cNvSpPr/>
          <p:nvPr/>
        </p:nvSpPr>
        <p:spPr>
          <a:xfrm>
            <a:off x="10081260" y="2176272"/>
            <a:ext cx="621792" cy="585216"/>
          </a:xfrm>
          <a:prstGeom prst="rect">
            <a:avLst/>
          </a:prstGeom>
          <a:noFill/>
          <a:ln/>
        </p:spPr>
        <p:txBody>
          <a:bodyPr wrap="square" rtlCol="0" anchor="ctr"/>
          <a:lstStyle/>
          <a:p>
            <a:pPr marL="0" indent="0" algn="ctr">
              <a:buNone/>
            </a:pPr>
            <a:endParaRPr lang="en-US" sz="1600" dirty="0"/>
          </a:p>
        </p:txBody>
      </p:sp>
      <p:sp>
        <p:nvSpPr>
          <p:cNvPr id="74" name="Text 24">
            <a:extLst>
              <a:ext uri="{FF2B5EF4-FFF2-40B4-BE49-F238E27FC236}">
                <a16:creationId xmlns:a16="http://schemas.microsoft.com/office/drawing/2014/main" id="{5C228E90-4651-E363-462D-B7855E5FF903}"/>
              </a:ext>
            </a:extLst>
          </p:cNvPr>
          <p:cNvSpPr/>
          <p:nvPr/>
        </p:nvSpPr>
        <p:spPr>
          <a:xfrm>
            <a:off x="9226296" y="3602135"/>
            <a:ext cx="2331720" cy="777240"/>
          </a:xfrm>
          <a:prstGeom prst="rect">
            <a:avLst/>
          </a:prstGeom>
          <a:noFill/>
          <a:ln/>
        </p:spPr>
        <p:txBody>
          <a:bodyPr wrap="square" rtlCol="0" anchor="t"/>
          <a:lstStyle/>
          <a:p>
            <a:r>
              <a:rPr lang="en-US" sz="1600" b="1" dirty="0"/>
              <a:t>Integrated Security &amp; Governance</a:t>
            </a:r>
          </a:p>
        </p:txBody>
      </p:sp>
      <p:sp>
        <p:nvSpPr>
          <p:cNvPr id="76" name="Text 25">
            <a:extLst>
              <a:ext uri="{FF2B5EF4-FFF2-40B4-BE49-F238E27FC236}">
                <a16:creationId xmlns:a16="http://schemas.microsoft.com/office/drawing/2014/main" id="{BEAE2606-6CFD-6F7A-F915-EACD9CA99F77}"/>
              </a:ext>
            </a:extLst>
          </p:cNvPr>
          <p:cNvSpPr/>
          <p:nvPr/>
        </p:nvSpPr>
        <p:spPr>
          <a:xfrm>
            <a:off x="9226296" y="3886200"/>
            <a:ext cx="2331720" cy="2194560"/>
          </a:xfrm>
          <a:prstGeom prst="rect">
            <a:avLst/>
          </a:prstGeom>
          <a:noFill/>
          <a:ln/>
        </p:spPr>
        <p:txBody>
          <a:bodyPr wrap="square" rtlCol="0" anchor="t"/>
          <a:lstStyle/>
          <a:p>
            <a:pPr>
              <a:lnSpc>
                <a:spcPct val="118000"/>
              </a:lnSpc>
            </a:pPr>
            <a:endParaRPr lang="en-US" sz="1600" dirty="0"/>
          </a:p>
          <a:p>
            <a:pPr>
              <a:lnSpc>
                <a:spcPct val="118000"/>
              </a:lnSpc>
            </a:pPr>
            <a:r>
              <a:rPr lang="en-US" sz="1600" dirty="0"/>
              <a:t>Guardrails, RBAC, JWT-based access control, and Human-in-the-loop approval mechanisms are built deep into the core architecture.</a:t>
            </a:r>
          </a:p>
        </p:txBody>
      </p:sp>
      <p:pic>
        <p:nvPicPr>
          <p:cNvPr id="78" name="Picture 77">
            <a:extLst>
              <a:ext uri="{FF2B5EF4-FFF2-40B4-BE49-F238E27FC236}">
                <a16:creationId xmlns:a16="http://schemas.microsoft.com/office/drawing/2014/main" id="{22ED1F5D-7586-229E-F56A-8FE3B40692B0}"/>
              </a:ext>
            </a:extLst>
          </p:cNvPr>
          <p:cNvPicPr>
            <a:picLocks noChangeAspect="1"/>
          </p:cNvPicPr>
          <p:nvPr/>
        </p:nvPicPr>
        <p:blipFill>
          <a:blip r:embed="rId5"/>
          <a:stretch>
            <a:fillRect/>
          </a:stretch>
        </p:blipFill>
        <p:spPr>
          <a:xfrm>
            <a:off x="633984" y="1836086"/>
            <a:ext cx="2461125" cy="1722788"/>
          </a:xfrm>
          <a:prstGeom prst="rect">
            <a:avLst/>
          </a:prstGeom>
        </p:spPr>
      </p:pic>
      <p:pic>
        <p:nvPicPr>
          <p:cNvPr id="80" name="Picture 79">
            <a:extLst>
              <a:ext uri="{FF2B5EF4-FFF2-40B4-BE49-F238E27FC236}">
                <a16:creationId xmlns:a16="http://schemas.microsoft.com/office/drawing/2014/main" id="{B96010C1-D193-92AB-E352-F7A0538328B1}"/>
              </a:ext>
            </a:extLst>
          </p:cNvPr>
          <p:cNvPicPr>
            <a:picLocks noChangeAspect="1"/>
          </p:cNvPicPr>
          <p:nvPr/>
        </p:nvPicPr>
        <p:blipFill>
          <a:blip r:embed="rId6"/>
          <a:stretch>
            <a:fillRect/>
          </a:stretch>
        </p:blipFill>
        <p:spPr>
          <a:xfrm>
            <a:off x="3442581" y="1885931"/>
            <a:ext cx="2441448" cy="1704680"/>
          </a:xfrm>
          <a:prstGeom prst="rect">
            <a:avLst/>
          </a:prstGeom>
        </p:spPr>
      </p:pic>
      <p:pic>
        <p:nvPicPr>
          <p:cNvPr id="82" name="Picture 81">
            <a:extLst>
              <a:ext uri="{FF2B5EF4-FFF2-40B4-BE49-F238E27FC236}">
                <a16:creationId xmlns:a16="http://schemas.microsoft.com/office/drawing/2014/main" id="{229C6E83-321E-9110-FA60-FDF6A1272E54}"/>
              </a:ext>
            </a:extLst>
          </p:cNvPr>
          <p:cNvPicPr>
            <a:picLocks noChangeAspect="1"/>
          </p:cNvPicPr>
          <p:nvPr/>
        </p:nvPicPr>
        <p:blipFill>
          <a:blip r:embed="rId7"/>
          <a:stretch>
            <a:fillRect/>
          </a:stretch>
        </p:blipFill>
        <p:spPr>
          <a:xfrm>
            <a:off x="6299648" y="1804795"/>
            <a:ext cx="2496312" cy="1827657"/>
          </a:xfrm>
          <a:prstGeom prst="rect">
            <a:avLst/>
          </a:prstGeom>
        </p:spPr>
      </p:pic>
      <p:pic>
        <p:nvPicPr>
          <p:cNvPr id="84" name="Picture 83">
            <a:extLst>
              <a:ext uri="{FF2B5EF4-FFF2-40B4-BE49-F238E27FC236}">
                <a16:creationId xmlns:a16="http://schemas.microsoft.com/office/drawing/2014/main" id="{0E536A87-7B05-7774-5048-BD44E8C1D543}"/>
              </a:ext>
            </a:extLst>
          </p:cNvPr>
          <p:cNvPicPr>
            <a:picLocks noChangeAspect="1"/>
          </p:cNvPicPr>
          <p:nvPr/>
        </p:nvPicPr>
        <p:blipFill>
          <a:blip r:embed="rId8"/>
          <a:stretch>
            <a:fillRect/>
          </a:stretch>
        </p:blipFill>
        <p:spPr>
          <a:xfrm>
            <a:off x="9183432" y="1828778"/>
            <a:ext cx="2459684" cy="1746521"/>
          </a:xfrm>
          <a:prstGeom prst="rect">
            <a:avLst/>
          </a:prstGeom>
        </p:spPr>
      </p:pic>
      <p:sp>
        <p:nvSpPr>
          <p:cNvPr id="88" name="Text 12">
            <a:extLst>
              <a:ext uri="{FF2B5EF4-FFF2-40B4-BE49-F238E27FC236}">
                <a16:creationId xmlns:a16="http://schemas.microsoft.com/office/drawing/2014/main" id="{DA46E465-021F-0E40-7DB7-F6F17586C9D0}"/>
              </a:ext>
            </a:extLst>
          </p:cNvPr>
          <p:cNvSpPr/>
          <p:nvPr/>
        </p:nvSpPr>
        <p:spPr>
          <a:xfrm>
            <a:off x="6364224" y="3752684"/>
            <a:ext cx="2514600" cy="411480"/>
          </a:xfrm>
          <a:prstGeom prst="rect">
            <a:avLst/>
          </a:prstGeom>
          <a:noFill/>
          <a:ln/>
        </p:spPr>
        <p:txBody>
          <a:bodyPr wrap="square" rtlCol="0" anchor="t"/>
          <a:lstStyle/>
          <a:p>
            <a:pPr>
              <a:lnSpc>
                <a:spcPct val="105000"/>
              </a:lnSpc>
            </a:pPr>
            <a:r>
              <a:rPr lang="en-US" sz="1600" b="1" dirty="0">
                <a:solidFill>
                  <a:srgbClr val="1A1A1A"/>
                </a:solidFill>
                <a:latin typeface="Arial" pitchFamily="34" charset="0"/>
                <a:ea typeface="Arial" pitchFamily="34" charset="-122"/>
                <a:cs typeface="Arial" pitchFamily="34" charset="-120"/>
              </a:rPr>
              <a:t>Non-technical UX</a:t>
            </a:r>
            <a:endParaRPr lang="en-US" sz="1600" b="1" dirty="0">
              <a:solidFill>
                <a:srgbClr val="EE0000"/>
              </a:solidFill>
            </a:endParaRPr>
          </a:p>
        </p:txBody>
      </p:sp>
    </p:spTree>
    <p:extLst>
      <p:ext uri="{BB962C8B-B14F-4D97-AF65-F5344CB8AC3E}">
        <p14:creationId xmlns:p14="http://schemas.microsoft.com/office/powerpoint/2010/main" val="150114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8E8D3-06BA-E5AB-F342-B50456CBA28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ABD9808D-7BD0-FFE6-EBA8-7BDBE2789F78}"/>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1039103" y="142968"/>
            <a:ext cx="996543" cy="365125"/>
          </a:xfrm>
          <a:prstGeom prst="rect">
            <a:avLst/>
          </a:prstGeom>
        </p:spPr>
      </p:pic>
      <p:pic>
        <p:nvPicPr>
          <p:cNvPr id="8" name="Graphic 17">
            <a:extLst>
              <a:ext uri="{FF2B5EF4-FFF2-40B4-BE49-F238E27FC236}">
                <a16:creationId xmlns:a16="http://schemas.microsoft.com/office/drawing/2014/main" id="{2EBBDA11-86ED-D5AB-1ADB-5720A6A60784}"/>
              </a:ext>
            </a:extLst>
          </p:cNvPr>
          <p:cNvPicPr>
            <a:picLocks noChangeAspect="1"/>
          </p:cNvPicPr>
          <p:nvPr/>
        </p:nvPicPr>
        <p:blipFill>
          <a:blip r:embed="rId4"/>
          <a:stretch>
            <a:fillRect/>
          </a:stretch>
        </p:blipFill>
        <p:spPr>
          <a:xfrm rot="-1200000">
            <a:off x="11776726" y="6358822"/>
            <a:ext cx="429809" cy="428855"/>
          </a:xfrm>
          <a:prstGeom prst="rect">
            <a:avLst/>
          </a:prstGeom>
          <a:effectLst/>
        </p:spPr>
      </p:pic>
      <p:sp>
        <p:nvSpPr>
          <p:cNvPr id="10" name="Slide Number Placeholder 5">
            <a:extLst>
              <a:ext uri="{FF2B5EF4-FFF2-40B4-BE49-F238E27FC236}">
                <a16:creationId xmlns:a16="http://schemas.microsoft.com/office/drawing/2014/main" id="{12ED95DA-9994-EE02-74BE-AB626122188C}"/>
              </a:ext>
            </a:extLst>
          </p:cNvPr>
          <p:cNvSpPr txBox="1">
            <a:spLocks/>
          </p:cNvSpPr>
          <p:nvPr/>
        </p:nvSpPr>
        <p:spPr>
          <a:xfrm>
            <a:off x="11794439" y="6315327"/>
            <a:ext cx="364800" cy="364800"/>
          </a:xfrm>
          <a:prstGeom prst="rect">
            <a:avLst/>
          </a:prstGeom>
        </p:spPr>
        <p:txBody>
          <a:bodyPr vert="horz" lIns="62400" tIns="62400" rIns="62400" bIns="60960" rtlCol="0" anchor="ctr"/>
          <a:lstStyle>
            <a:defPPr>
              <a:defRPr lang="en-US"/>
            </a:defPPr>
            <a:lvl1pPr marL="0" algn="ctr" defTabSz="685800" rtl="0" eaLnBrk="1" latinLnBrk="0" hangingPunct="1">
              <a:defRPr sz="800" b="0" i="0" kern="1200">
                <a:solidFill>
                  <a:schemeClr val="tx1">
                    <a:lumMod val="50000"/>
                    <a:lumOff val="50000"/>
                  </a:schemeClr>
                </a:solidFill>
                <a:latin typeface="Sarabun Light" pitchFamily="2" charset="-34"/>
                <a:ea typeface="+mn-ea"/>
                <a:cs typeface="Sarabun Light" pitchFamily="2" charset="-34"/>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6F91CD73-D11E-4A01-9C29-C7344FBD827C}" type="slidenum">
              <a:rPr lang="en-US" sz="1200">
                <a:solidFill>
                  <a:schemeClr val="bg1"/>
                </a:solidFill>
                <a:latin typeface="Times New Roman" panose="02020603050405020304" pitchFamily="18" charset="0"/>
                <a:cs typeface="Times New Roman" panose="02020603050405020304" pitchFamily="18" charset="0"/>
              </a:rPr>
              <a:t>5</a:t>
            </a:fld>
            <a:endParaRPr lang="x-none" sz="1200" dirty="0">
              <a:solidFill>
                <a:schemeClr val="bg1"/>
              </a:solidFill>
              <a:latin typeface="Times New Roman" panose="02020603050405020304" pitchFamily="18" charset="0"/>
              <a:cs typeface="Times New Roman" panose="02020603050405020304" pitchFamily="18" charset="0"/>
            </a:endParaRPr>
          </a:p>
        </p:txBody>
      </p:sp>
      <p:sp>
        <p:nvSpPr>
          <p:cNvPr id="3" name="Text 0">
            <a:extLst>
              <a:ext uri="{FF2B5EF4-FFF2-40B4-BE49-F238E27FC236}">
                <a16:creationId xmlns:a16="http://schemas.microsoft.com/office/drawing/2014/main" id="{627B01BC-2B52-E647-7975-27EEFDAD6BD3}"/>
              </a:ext>
            </a:extLst>
          </p:cNvPr>
          <p:cNvSpPr/>
          <p:nvPr/>
        </p:nvSpPr>
        <p:spPr>
          <a:xfrm>
            <a:off x="457200" y="320040"/>
            <a:ext cx="11274552" cy="1051560"/>
          </a:xfrm>
          <a:prstGeom prst="rect">
            <a:avLst/>
          </a:prstGeom>
          <a:noFill/>
          <a:ln/>
        </p:spPr>
        <p:txBody>
          <a:bodyPr wrap="square" rtlCol="0" anchor="t"/>
          <a:lstStyle/>
          <a:p>
            <a:r>
              <a:rPr lang="en-US" sz="4000" b="1" dirty="0">
                <a:solidFill>
                  <a:srgbClr val="EE0000"/>
                </a:solidFill>
              </a:rPr>
              <a:t>Main Features</a:t>
            </a:r>
          </a:p>
          <a:p>
            <a:pPr marL="0" indent="0" algn="l">
              <a:lnSpc>
                <a:spcPct val="105000"/>
              </a:lnSpc>
              <a:buNone/>
            </a:pPr>
            <a:endParaRPr lang="en-US" sz="4000" b="1" dirty="0">
              <a:solidFill>
                <a:srgbClr val="EE0000"/>
              </a:solidFill>
            </a:endParaRPr>
          </a:p>
        </p:txBody>
      </p:sp>
      <p:sp>
        <p:nvSpPr>
          <p:cNvPr id="5" name="Shape 1">
            <a:extLst>
              <a:ext uri="{FF2B5EF4-FFF2-40B4-BE49-F238E27FC236}">
                <a16:creationId xmlns:a16="http://schemas.microsoft.com/office/drawing/2014/main" id="{7EA791FE-191B-E468-C0A2-476544C44F5E}"/>
              </a:ext>
            </a:extLst>
          </p:cNvPr>
          <p:cNvSpPr/>
          <p:nvPr/>
        </p:nvSpPr>
        <p:spPr>
          <a:xfrm>
            <a:off x="457200" y="1197308"/>
            <a:ext cx="5532120" cy="2331720"/>
          </a:xfrm>
          <a:prstGeom prst="rect">
            <a:avLst/>
          </a:prstGeom>
          <a:solidFill>
            <a:srgbClr val="DDE1E4"/>
          </a:solidFill>
          <a:ln w="12700">
            <a:solidFill>
              <a:srgbClr val="B7BBBF"/>
            </a:solidFill>
            <a:prstDash val="solid"/>
          </a:ln>
        </p:spPr>
        <p:txBody>
          <a:bodyPr/>
          <a:lstStyle/>
          <a:p>
            <a:endParaRPr lang="en-US"/>
          </a:p>
        </p:txBody>
      </p:sp>
      <p:sp>
        <p:nvSpPr>
          <p:cNvPr id="7" name="Shape 2">
            <a:extLst>
              <a:ext uri="{FF2B5EF4-FFF2-40B4-BE49-F238E27FC236}">
                <a16:creationId xmlns:a16="http://schemas.microsoft.com/office/drawing/2014/main" id="{652BBFCE-749F-FD58-1DA9-0E880AAF8D5D}"/>
              </a:ext>
            </a:extLst>
          </p:cNvPr>
          <p:cNvSpPr/>
          <p:nvPr/>
        </p:nvSpPr>
        <p:spPr>
          <a:xfrm>
            <a:off x="457200" y="1183008"/>
            <a:ext cx="5532120" cy="64008"/>
          </a:xfrm>
          <a:prstGeom prst="rect">
            <a:avLst/>
          </a:prstGeom>
          <a:solidFill>
            <a:srgbClr val="E6062B"/>
          </a:solidFill>
          <a:ln/>
        </p:spPr>
        <p:txBody>
          <a:bodyPr/>
          <a:lstStyle/>
          <a:p>
            <a:endParaRPr lang="en-US"/>
          </a:p>
        </p:txBody>
      </p:sp>
      <p:sp>
        <p:nvSpPr>
          <p:cNvPr id="11" name="Text 3">
            <a:extLst>
              <a:ext uri="{FF2B5EF4-FFF2-40B4-BE49-F238E27FC236}">
                <a16:creationId xmlns:a16="http://schemas.microsoft.com/office/drawing/2014/main" id="{9E225396-3DCE-ACD7-5C77-863201E4209B}"/>
              </a:ext>
            </a:extLst>
          </p:cNvPr>
          <p:cNvSpPr/>
          <p:nvPr/>
        </p:nvSpPr>
        <p:spPr>
          <a:xfrm>
            <a:off x="640080" y="1361900"/>
            <a:ext cx="2606040" cy="357160"/>
          </a:xfrm>
          <a:prstGeom prst="rect">
            <a:avLst/>
          </a:prstGeom>
          <a:noFill/>
          <a:ln/>
        </p:spPr>
        <p:txBody>
          <a:bodyPr wrap="square" rtlCol="0" anchor="t"/>
          <a:lstStyle/>
          <a:p>
            <a:r>
              <a:rPr lang="en-US" sz="1600" b="1" dirty="0"/>
              <a:t>Flexible Orchestrator</a:t>
            </a:r>
          </a:p>
        </p:txBody>
      </p:sp>
      <p:sp>
        <p:nvSpPr>
          <p:cNvPr id="14" name="Text 4">
            <a:extLst>
              <a:ext uri="{FF2B5EF4-FFF2-40B4-BE49-F238E27FC236}">
                <a16:creationId xmlns:a16="http://schemas.microsoft.com/office/drawing/2014/main" id="{2FDA7043-8AB4-8DE2-CCFE-2C1D61E68192}"/>
              </a:ext>
            </a:extLst>
          </p:cNvPr>
          <p:cNvSpPr/>
          <p:nvPr/>
        </p:nvSpPr>
        <p:spPr>
          <a:xfrm>
            <a:off x="640080" y="1727070"/>
            <a:ext cx="2606040" cy="1417320"/>
          </a:xfrm>
          <a:prstGeom prst="rect">
            <a:avLst/>
          </a:prstGeom>
          <a:noFill/>
          <a:ln/>
        </p:spPr>
        <p:txBody>
          <a:bodyPr wrap="square" rtlCol="0" anchor="t"/>
          <a:lstStyle/>
          <a:p>
            <a:r>
              <a:rPr lang="en-US" sz="1400" dirty="0"/>
              <a:t>Supports both </a:t>
            </a:r>
            <a:r>
              <a:rPr lang="en-US" sz="1400" dirty="0" err="1"/>
              <a:t>DeepAgent</a:t>
            </a:r>
            <a:r>
              <a:rPr lang="en-US" sz="1400" dirty="0"/>
              <a:t> (automated LLM planning) and Pipeline work-flow (running along a fixed, pre-designed flow).</a:t>
            </a:r>
          </a:p>
        </p:txBody>
      </p:sp>
      <p:sp>
        <p:nvSpPr>
          <p:cNvPr id="16" name="Text 8">
            <a:extLst>
              <a:ext uri="{FF2B5EF4-FFF2-40B4-BE49-F238E27FC236}">
                <a16:creationId xmlns:a16="http://schemas.microsoft.com/office/drawing/2014/main" id="{F805ABC4-B9B1-00C4-1AB5-355131B9848E}"/>
              </a:ext>
            </a:extLst>
          </p:cNvPr>
          <p:cNvSpPr/>
          <p:nvPr/>
        </p:nvSpPr>
        <p:spPr>
          <a:xfrm>
            <a:off x="4636008" y="2011680"/>
            <a:ext cx="1152144" cy="457200"/>
          </a:xfrm>
          <a:prstGeom prst="rect">
            <a:avLst/>
          </a:prstGeom>
          <a:noFill/>
          <a:ln/>
        </p:spPr>
        <p:txBody>
          <a:bodyPr wrap="square" rtlCol="0" anchor="ctr"/>
          <a:lstStyle/>
          <a:p>
            <a:pPr marL="0" indent="0" algn="ctr">
              <a:lnSpc>
                <a:spcPct val="95000"/>
              </a:lnSpc>
              <a:buNone/>
            </a:pPr>
            <a:endParaRPr lang="en-US" sz="850" dirty="0"/>
          </a:p>
        </p:txBody>
      </p:sp>
      <p:sp>
        <p:nvSpPr>
          <p:cNvPr id="18" name="Text 10">
            <a:extLst>
              <a:ext uri="{FF2B5EF4-FFF2-40B4-BE49-F238E27FC236}">
                <a16:creationId xmlns:a16="http://schemas.microsoft.com/office/drawing/2014/main" id="{BD55F1F4-C1C4-0E9A-CFEF-EA378D239DCB}"/>
              </a:ext>
            </a:extLst>
          </p:cNvPr>
          <p:cNvSpPr/>
          <p:nvPr/>
        </p:nvSpPr>
        <p:spPr>
          <a:xfrm>
            <a:off x="4636008" y="3429000"/>
            <a:ext cx="1152144" cy="457200"/>
          </a:xfrm>
          <a:prstGeom prst="rect">
            <a:avLst/>
          </a:prstGeom>
          <a:noFill/>
          <a:ln/>
        </p:spPr>
        <p:txBody>
          <a:bodyPr wrap="square" rtlCol="0" anchor="ctr"/>
          <a:lstStyle/>
          <a:p>
            <a:pPr marL="0" indent="0" algn="ctr">
              <a:lnSpc>
                <a:spcPct val="95000"/>
              </a:lnSpc>
              <a:buNone/>
            </a:pPr>
            <a:endParaRPr lang="en-US" sz="850" dirty="0"/>
          </a:p>
        </p:txBody>
      </p:sp>
      <p:sp>
        <p:nvSpPr>
          <p:cNvPr id="24" name="Shape 13">
            <a:extLst>
              <a:ext uri="{FF2B5EF4-FFF2-40B4-BE49-F238E27FC236}">
                <a16:creationId xmlns:a16="http://schemas.microsoft.com/office/drawing/2014/main" id="{18D4AA44-BCDF-FC2D-A058-824811D8765A}"/>
              </a:ext>
            </a:extLst>
          </p:cNvPr>
          <p:cNvSpPr/>
          <p:nvPr/>
        </p:nvSpPr>
        <p:spPr>
          <a:xfrm>
            <a:off x="6172200" y="1197308"/>
            <a:ext cx="5532120" cy="2331720"/>
          </a:xfrm>
          <a:prstGeom prst="rect">
            <a:avLst/>
          </a:prstGeom>
          <a:solidFill>
            <a:srgbClr val="DDE1E4"/>
          </a:solidFill>
          <a:ln w="12700">
            <a:solidFill>
              <a:srgbClr val="B7BBBF"/>
            </a:solidFill>
            <a:prstDash val="solid"/>
          </a:ln>
        </p:spPr>
        <p:txBody>
          <a:bodyPr/>
          <a:lstStyle/>
          <a:p>
            <a:endParaRPr lang="en-US"/>
          </a:p>
        </p:txBody>
      </p:sp>
      <p:sp>
        <p:nvSpPr>
          <p:cNvPr id="26" name="Shape 14">
            <a:extLst>
              <a:ext uri="{FF2B5EF4-FFF2-40B4-BE49-F238E27FC236}">
                <a16:creationId xmlns:a16="http://schemas.microsoft.com/office/drawing/2014/main" id="{99CB3502-41DB-A4B3-0C5D-4BF838980CD9}"/>
              </a:ext>
            </a:extLst>
          </p:cNvPr>
          <p:cNvSpPr/>
          <p:nvPr/>
        </p:nvSpPr>
        <p:spPr>
          <a:xfrm>
            <a:off x="6172200" y="1183008"/>
            <a:ext cx="5532120" cy="64008"/>
          </a:xfrm>
          <a:prstGeom prst="rect">
            <a:avLst/>
          </a:prstGeom>
          <a:solidFill>
            <a:srgbClr val="E6062B"/>
          </a:solidFill>
          <a:ln/>
        </p:spPr>
        <p:txBody>
          <a:bodyPr/>
          <a:lstStyle/>
          <a:p>
            <a:endParaRPr lang="en-US"/>
          </a:p>
        </p:txBody>
      </p:sp>
      <p:sp>
        <p:nvSpPr>
          <p:cNvPr id="28" name="Text 15">
            <a:extLst>
              <a:ext uri="{FF2B5EF4-FFF2-40B4-BE49-F238E27FC236}">
                <a16:creationId xmlns:a16="http://schemas.microsoft.com/office/drawing/2014/main" id="{F6FE6F7C-3977-44C4-43C8-44DDD1272B13}"/>
              </a:ext>
            </a:extLst>
          </p:cNvPr>
          <p:cNvSpPr/>
          <p:nvPr/>
        </p:nvSpPr>
        <p:spPr>
          <a:xfrm>
            <a:off x="6355080" y="1361900"/>
            <a:ext cx="2606040" cy="594360"/>
          </a:xfrm>
          <a:prstGeom prst="rect">
            <a:avLst/>
          </a:prstGeom>
          <a:noFill/>
          <a:ln/>
        </p:spPr>
        <p:txBody>
          <a:bodyPr wrap="square" rtlCol="0" anchor="t"/>
          <a:lstStyle/>
          <a:p>
            <a:r>
              <a:rPr lang="en-US" sz="1600" b="1" dirty="0"/>
              <a:t>Drag-and-Drop Interface</a:t>
            </a:r>
          </a:p>
        </p:txBody>
      </p:sp>
      <p:sp>
        <p:nvSpPr>
          <p:cNvPr id="30" name="Text 16">
            <a:extLst>
              <a:ext uri="{FF2B5EF4-FFF2-40B4-BE49-F238E27FC236}">
                <a16:creationId xmlns:a16="http://schemas.microsoft.com/office/drawing/2014/main" id="{10D5FACB-6082-D7A1-DF69-6EAAA41AA647}"/>
              </a:ext>
            </a:extLst>
          </p:cNvPr>
          <p:cNvSpPr/>
          <p:nvPr/>
        </p:nvSpPr>
        <p:spPr>
          <a:xfrm>
            <a:off x="6355080" y="1679946"/>
            <a:ext cx="2587676" cy="1417320"/>
          </a:xfrm>
          <a:prstGeom prst="rect">
            <a:avLst/>
          </a:prstGeom>
          <a:noFill/>
          <a:ln/>
        </p:spPr>
        <p:txBody>
          <a:bodyPr wrap="square" rtlCol="0" anchor="t"/>
          <a:lstStyle/>
          <a:p>
            <a:pPr>
              <a:lnSpc>
                <a:spcPct val="118000"/>
              </a:lnSpc>
            </a:pPr>
            <a:r>
              <a:rPr lang="en-US" sz="1400" dirty="0"/>
              <a:t>Where administrators define behavior, assign Tools, set RAG limits, and control role-based permissions (RBAC) across the organization — no code required</a:t>
            </a:r>
          </a:p>
        </p:txBody>
      </p:sp>
      <p:sp>
        <p:nvSpPr>
          <p:cNvPr id="34" name="Text 18">
            <a:extLst>
              <a:ext uri="{FF2B5EF4-FFF2-40B4-BE49-F238E27FC236}">
                <a16:creationId xmlns:a16="http://schemas.microsoft.com/office/drawing/2014/main" id="{6012A221-12CC-9053-1D21-3A5F8ADC7D6A}"/>
              </a:ext>
            </a:extLst>
          </p:cNvPr>
          <p:cNvSpPr/>
          <p:nvPr/>
        </p:nvSpPr>
        <p:spPr>
          <a:xfrm>
            <a:off x="9070848" y="1965960"/>
            <a:ext cx="1152144" cy="1965960"/>
          </a:xfrm>
          <a:prstGeom prst="rect">
            <a:avLst/>
          </a:prstGeom>
          <a:noFill/>
          <a:ln/>
        </p:spPr>
        <p:txBody>
          <a:bodyPr wrap="square" rtlCol="0" anchor="ctr"/>
          <a:lstStyle/>
          <a:p>
            <a:pPr marL="0" indent="0" algn="ctr">
              <a:lnSpc>
                <a:spcPct val="95000"/>
              </a:lnSpc>
              <a:buNone/>
            </a:pPr>
            <a:endParaRPr lang="en-US" sz="950" dirty="0"/>
          </a:p>
        </p:txBody>
      </p:sp>
      <p:sp>
        <p:nvSpPr>
          <p:cNvPr id="38" name="Text 20">
            <a:extLst>
              <a:ext uri="{FF2B5EF4-FFF2-40B4-BE49-F238E27FC236}">
                <a16:creationId xmlns:a16="http://schemas.microsoft.com/office/drawing/2014/main" id="{834535E3-891D-C397-E97C-A81216282A73}"/>
              </a:ext>
            </a:extLst>
          </p:cNvPr>
          <p:cNvSpPr/>
          <p:nvPr/>
        </p:nvSpPr>
        <p:spPr>
          <a:xfrm>
            <a:off x="10533888" y="1965960"/>
            <a:ext cx="969264" cy="457200"/>
          </a:xfrm>
          <a:prstGeom prst="rect">
            <a:avLst/>
          </a:prstGeom>
          <a:noFill/>
          <a:ln/>
        </p:spPr>
        <p:txBody>
          <a:bodyPr wrap="square" rtlCol="0" anchor="ctr"/>
          <a:lstStyle/>
          <a:p>
            <a:pPr marL="0" indent="0" algn="ctr">
              <a:lnSpc>
                <a:spcPct val="95000"/>
              </a:lnSpc>
              <a:buNone/>
            </a:pPr>
            <a:endParaRPr lang="en-US" sz="950" dirty="0"/>
          </a:p>
        </p:txBody>
      </p:sp>
      <p:sp>
        <p:nvSpPr>
          <p:cNvPr id="42" name="Text 22">
            <a:extLst>
              <a:ext uri="{FF2B5EF4-FFF2-40B4-BE49-F238E27FC236}">
                <a16:creationId xmlns:a16="http://schemas.microsoft.com/office/drawing/2014/main" id="{6C8047D5-0392-2E55-305B-E025A5D4CE60}"/>
              </a:ext>
            </a:extLst>
          </p:cNvPr>
          <p:cNvSpPr/>
          <p:nvPr/>
        </p:nvSpPr>
        <p:spPr>
          <a:xfrm>
            <a:off x="10533888" y="2514600"/>
            <a:ext cx="969264" cy="457200"/>
          </a:xfrm>
          <a:prstGeom prst="rect">
            <a:avLst/>
          </a:prstGeom>
          <a:noFill/>
          <a:ln/>
        </p:spPr>
        <p:txBody>
          <a:bodyPr wrap="square" rtlCol="0" anchor="ctr"/>
          <a:lstStyle/>
          <a:p>
            <a:pPr marL="0" indent="0" algn="ctr">
              <a:lnSpc>
                <a:spcPct val="95000"/>
              </a:lnSpc>
              <a:buNone/>
            </a:pPr>
            <a:endParaRPr lang="en-US" sz="950" dirty="0"/>
          </a:p>
        </p:txBody>
      </p:sp>
      <p:sp>
        <p:nvSpPr>
          <p:cNvPr id="46" name="Text 24">
            <a:extLst>
              <a:ext uri="{FF2B5EF4-FFF2-40B4-BE49-F238E27FC236}">
                <a16:creationId xmlns:a16="http://schemas.microsoft.com/office/drawing/2014/main" id="{E8843717-7A26-CCF2-E068-10A191670483}"/>
              </a:ext>
            </a:extLst>
          </p:cNvPr>
          <p:cNvSpPr/>
          <p:nvPr/>
        </p:nvSpPr>
        <p:spPr>
          <a:xfrm>
            <a:off x="10533888" y="3063240"/>
            <a:ext cx="969264" cy="457200"/>
          </a:xfrm>
          <a:prstGeom prst="rect">
            <a:avLst/>
          </a:prstGeom>
          <a:noFill/>
          <a:ln/>
        </p:spPr>
        <p:txBody>
          <a:bodyPr wrap="square" rtlCol="0" anchor="ctr"/>
          <a:lstStyle/>
          <a:p>
            <a:pPr marL="0" indent="0" algn="ctr">
              <a:lnSpc>
                <a:spcPct val="95000"/>
              </a:lnSpc>
              <a:buNone/>
            </a:pPr>
            <a:endParaRPr lang="en-US" sz="950" dirty="0"/>
          </a:p>
        </p:txBody>
      </p:sp>
      <p:sp>
        <p:nvSpPr>
          <p:cNvPr id="48" name="Shape 25">
            <a:extLst>
              <a:ext uri="{FF2B5EF4-FFF2-40B4-BE49-F238E27FC236}">
                <a16:creationId xmlns:a16="http://schemas.microsoft.com/office/drawing/2014/main" id="{7C7526B1-ABB2-039F-F2D7-660F60C1695F}"/>
              </a:ext>
            </a:extLst>
          </p:cNvPr>
          <p:cNvSpPr/>
          <p:nvPr/>
        </p:nvSpPr>
        <p:spPr>
          <a:xfrm>
            <a:off x="457200" y="3711908"/>
            <a:ext cx="5532120" cy="2331720"/>
          </a:xfrm>
          <a:prstGeom prst="rect">
            <a:avLst/>
          </a:prstGeom>
          <a:solidFill>
            <a:srgbClr val="DDE1E4"/>
          </a:solidFill>
          <a:ln w="12700">
            <a:solidFill>
              <a:srgbClr val="B7BBBF"/>
            </a:solidFill>
            <a:prstDash val="solid"/>
          </a:ln>
        </p:spPr>
        <p:txBody>
          <a:bodyPr/>
          <a:lstStyle/>
          <a:p>
            <a:endParaRPr lang="en-US"/>
          </a:p>
        </p:txBody>
      </p:sp>
      <p:sp>
        <p:nvSpPr>
          <p:cNvPr id="50" name="Shape 26">
            <a:extLst>
              <a:ext uri="{FF2B5EF4-FFF2-40B4-BE49-F238E27FC236}">
                <a16:creationId xmlns:a16="http://schemas.microsoft.com/office/drawing/2014/main" id="{248EBB78-BD8D-2210-ACD3-B5B7C878907C}"/>
              </a:ext>
            </a:extLst>
          </p:cNvPr>
          <p:cNvSpPr/>
          <p:nvPr/>
        </p:nvSpPr>
        <p:spPr>
          <a:xfrm>
            <a:off x="457200" y="3697608"/>
            <a:ext cx="5532120" cy="64008"/>
          </a:xfrm>
          <a:prstGeom prst="rect">
            <a:avLst/>
          </a:prstGeom>
          <a:solidFill>
            <a:srgbClr val="E6062B"/>
          </a:solidFill>
          <a:ln/>
        </p:spPr>
        <p:txBody>
          <a:bodyPr/>
          <a:lstStyle/>
          <a:p>
            <a:endParaRPr lang="en-US"/>
          </a:p>
        </p:txBody>
      </p:sp>
      <p:sp>
        <p:nvSpPr>
          <p:cNvPr id="52" name="Text 27">
            <a:extLst>
              <a:ext uri="{FF2B5EF4-FFF2-40B4-BE49-F238E27FC236}">
                <a16:creationId xmlns:a16="http://schemas.microsoft.com/office/drawing/2014/main" id="{AC01E44A-1636-F49E-1FAE-D0B128675213}"/>
              </a:ext>
            </a:extLst>
          </p:cNvPr>
          <p:cNvSpPr/>
          <p:nvPr/>
        </p:nvSpPr>
        <p:spPr>
          <a:xfrm>
            <a:off x="640080" y="3876500"/>
            <a:ext cx="2606040" cy="594360"/>
          </a:xfrm>
          <a:prstGeom prst="rect">
            <a:avLst/>
          </a:prstGeom>
          <a:noFill/>
          <a:ln/>
        </p:spPr>
        <p:txBody>
          <a:bodyPr wrap="square" rtlCol="0" anchor="t"/>
          <a:lstStyle/>
          <a:p>
            <a:r>
              <a:rPr lang="en-US" sz="1600" b="1" dirty="0"/>
              <a:t>MCP Extension Protocol</a:t>
            </a:r>
          </a:p>
        </p:txBody>
      </p:sp>
      <p:sp>
        <p:nvSpPr>
          <p:cNvPr id="54" name="Text 28">
            <a:extLst>
              <a:ext uri="{FF2B5EF4-FFF2-40B4-BE49-F238E27FC236}">
                <a16:creationId xmlns:a16="http://schemas.microsoft.com/office/drawing/2014/main" id="{C8738DA0-6A82-FEC9-3621-645B53AB898D}"/>
              </a:ext>
            </a:extLst>
          </p:cNvPr>
          <p:cNvSpPr/>
          <p:nvPr/>
        </p:nvSpPr>
        <p:spPr>
          <a:xfrm>
            <a:off x="640080" y="4223960"/>
            <a:ext cx="2606040" cy="1417320"/>
          </a:xfrm>
          <a:prstGeom prst="rect">
            <a:avLst/>
          </a:prstGeom>
          <a:noFill/>
          <a:ln/>
        </p:spPr>
        <p:txBody>
          <a:bodyPr wrap="square" rtlCol="0" anchor="t"/>
          <a:lstStyle/>
          <a:p>
            <a:pPr>
              <a:lnSpc>
                <a:spcPct val="118000"/>
              </a:lnSpc>
            </a:pPr>
            <a:r>
              <a:rPr lang="en-US" sz="1400" dirty="0"/>
              <a:t>Connects Agents to internal System (</a:t>
            </a:r>
            <a:r>
              <a:rPr lang="en-US" sz="1400" dirty="0" err="1"/>
              <a:t>eg</a:t>
            </a:r>
            <a:r>
              <a:rPr lang="en-US" sz="1400" dirty="0"/>
              <a:t>: API / RPA systems) using a standardized MCP JSON Schema. Unlimited tool expansion.</a:t>
            </a:r>
          </a:p>
        </p:txBody>
      </p:sp>
      <p:sp>
        <p:nvSpPr>
          <p:cNvPr id="58" name="Text 30">
            <a:extLst>
              <a:ext uri="{FF2B5EF4-FFF2-40B4-BE49-F238E27FC236}">
                <a16:creationId xmlns:a16="http://schemas.microsoft.com/office/drawing/2014/main" id="{C0C8BBAA-41B4-C360-B577-220EB894D09E}"/>
              </a:ext>
            </a:extLst>
          </p:cNvPr>
          <p:cNvSpPr/>
          <p:nvPr/>
        </p:nvSpPr>
        <p:spPr>
          <a:xfrm>
            <a:off x="3355848" y="5143500"/>
            <a:ext cx="877824" cy="640080"/>
          </a:xfrm>
          <a:prstGeom prst="rect">
            <a:avLst/>
          </a:prstGeom>
          <a:noFill/>
          <a:ln/>
        </p:spPr>
        <p:txBody>
          <a:bodyPr wrap="square" rtlCol="0" anchor="ctr"/>
          <a:lstStyle/>
          <a:p>
            <a:pPr marL="0" indent="0" algn="ctr">
              <a:lnSpc>
                <a:spcPct val="95000"/>
              </a:lnSpc>
              <a:buNone/>
            </a:pPr>
            <a:endParaRPr lang="en-US" sz="950" dirty="0"/>
          </a:p>
        </p:txBody>
      </p:sp>
      <p:sp>
        <p:nvSpPr>
          <p:cNvPr id="70" name="Text 36">
            <a:extLst>
              <a:ext uri="{FF2B5EF4-FFF2-40B4-BE49-F238E27FC236}">
                <a16:creationId xmlns:a16="http://schemas.microsoft.com/office/drawing/2014/main" id="{1E7B11D6-45C1-B766-452C-4FBFCAC21ABD}"/>
              </a:ext>
            </a:extLst>
          </p:cNvPr>
          <p:cNvSpPr/>
          <p:nvPr/>
        </p:nvSpPr>
        <p:spPr>
          <a:xfrm>
            <a:off x="3337560" y="6190488"/>
            <a:ext cx="2468880" cy="228600"/>
          </a:xfrm>
          <a:prstGeom prst="rect">
            <a:avLst/>
          </a:prstGeom>
          <a:noFill/>
          <a:ln/>
        </p:spPr>
        <p:txBody>
          <a:bodyPr wrap="square" rtlCol="0" anchor="ctr"/>
          <a:lstStyle/>
          <a:p>
            <a:pPr marL="0" indent="0" algn="ctr">
              <a:buNone/>
            </a:pPr>
            <a:endParaRPr lang="en-US" sz="750" dirty="0"/>
          </a:p>
        </p:txBody>
      </p:sp>
      <p:sp>
        <p:nvSpPr>
          <p:cNvPr id="72" name="Shape 37">
            <a:extLst>
              <a:ext uri="{FF2B5EF4-FFF2-40B4-BE49-F238E27FC236}">
                <a16:creationId xmlns:a16="http://schemas.microsoft.com/office/drawing/2014/main" id="{900AD567-A6A2-CB80-D54C-45A34E105E2B}"/>
              </a:ext>
            </a:extLst>
          </p:cNvPr>
          <p:cNvSpPr/>
          <p:nvPr/>
        </p:nvSpPr>
        <p:spPr>
          <a:xfrm>
            <a:off x="6172200" y="3711908"/>
            <a:ext cx="5532120" cy="2331720"/>
          </a:xfrm>
          <a:prstGeom prst="rect">
            <a:avLst/>
          </a:prstGeom>
          <a:solidFill>
            <a:srgbClr val="DDE1E4"/>
          </a:solidFill>
          <a:ln w="12700">
            <a:solidFill>
              <a:srgbClr val="B7BBBF"/>
            </a:solidFill>
            <a:prstDash val="solid"/>
          </a:ln>
        </p:spPr>
        <p:txBody>
          <a:bodyPr/>
          <a:lstStyle/>
          <a:p>
            <a:endParaRPr lang="en-US"/>
          </a:p>
        </p:txBody>
      </p:sp>
      <p:sp>
        <p:nvSpPr>
          <p:cNvPr id="74" name="Shape 38">
            <a:extLst>
              <a:ext uri="{FF2B5EF4-FFF2-40B4-BE49-F238E27FC236}">
                <a16:creationId xmlns:a16="http://schemas.microsoft.com/office/drawing/2014/main" id="{DBDC0741-3C86-FFFB-F4C4-378B62492102}"/>
              </a:ext>
            </a:extLst>
          </p:cNvPr>
          <p:cNvSpPr/>
          <p:nvPr/>
        </p:nvSpPr>
        <p:spPr>
          <a:xfrm>
            <a:off x="6172200" y="3697608"/>
            <a:ext cx="5532120" cy="64008"/>
          </a:xfrm>
          <a:prstGeom prst="rect">
            <a:avLst/>
          </a:prstGeom>
          <a:solidFill>
            <a:srgbClr val="E6062B"/>
          </a:solidFill>
          <a:ln/>
        </p:spPr>
        <p:txBody>
          <a:bodyPr/>
          <a:lstStyle/>
          <a:p>
            <a:endParaRPr lang="en-US"/>
          </a:p>
        </p:txBody>
      </p:sp>
      <p:sp>
        <p:nvSpPr>
          <p:cNvPr id="76" name="Text 39">
            <a:extLst>
              <a:ext uri="{FF2B5EF4-FFF2-40B4-BE49-F238E27FC236}">
                <a16:creationId xmlns:a16="http://schemas.microsoft.com/office/drawing/2014/main" id="{21DCFCBD-18C4-751F-3FBF-C5C17C7A4CED}"/>
              </a:ext>
            </a:extLst>
          </p:cNvPr>
          <p:cNvSpPr/>
          <p:nvPr/>
        </p:nvSpPr>
        <p:spPr>
          <a:xfrm>
            <a:off x="6355080" y="3876500"/>
            <a:ext cx="2606040" cy="594360"/>
          </a:xfrm>
          <a:prstGeom prst="rect">
            <a:avLst/>
          </a:prstGeom>
          <a:noFill/>
          <a:ln/>
        </p:spPr>
        <p:txBody>
          <a:bodyPr wrap="square" rtlCol="0" anchor="t"/>
          <a:lstStyle/>
          <a:p>
            <a:pPr>
              <a:lnSpc>
                <a:spcPct val="105000"/>
              </a:lnSpc>
            </a:pPr>
            <a:r>
              <a:rPr lang="en-US" sz="1600" b="1" dirty="0"/>
              <a:t>Isolated Agent Sandbox</a:t>
            </a:r>
            <a:endParaRPr lang="en-US" sz="1450" b="1" dirty="0"/>
          </a:p>
        </p:txBody>
      </p:sp>
      <p:sp>
        <p:nvSpPr>
          <p:cNvPr id="78" name="Text 40">
            <a:extLst>
              <a:ext uri="{FF2B5EF4-FFF2-40B4-BE49-F238E27FC236}">
                <a16:creationId xmlns:a16="http://schemas.microsoft.com/office/drawing/2014/main" id="{2978AA15-134D-F8F6-78F4-36AD763F8EDE}"/>
              </a:ext>
            </a:extLst>
          </p:cNvPr>
          <p:cNvSpPr/>
          <p:nvPr/>
        </p:nvSpPr>
        <p:spPr>
          <a:xfrm>
            <a:off x="6368796" y="4157693"/>
            <a:ext cx="2606040" cy="1417320"/>
          </a:xfrm>
          <a:prstGeom prst="rect">
            <a:avLst/>
          </a:prstGeom>
          <a:noFill/>
          <a:ln/>
        </p:spPr>
        <p:txBody>
          <a:bodyPr wrap="square" rtlCol="0" anchor="t"/>
          <a:lstStyle/>
          <a:p>
            <a:pPr>
              <a:lnSpc>
                <a:spcPct val="118000"/>
              </a:lnSpc>
            </a:pPr>
            <a:r>
              <a:rPr lang="en-US" sz="1400" dirty="0"/>
              <a:t>A secure execution environment (Docker-based) that lets Agents run code without risking contamination of the production system.</a:t>
            </a:r>
          </a:p>
        </p:txBody>
      </p:sp>
      <p:sp>
        <p:nvSpPr>
          <p:cNvPr id="82" name="Text 42">
            <a:extLst>
              <a:ext uri="{FF2B5EF4-FFF2-40B4-BE49-F238E27FC236}">
                <a16:creationId xmlns:a16="http://schemas.microsoft.com/office/drawing/2014/main" id="{993BAF3F-A100-5E3F-9F2B-C4B9D18C4D4F}"/>
              </a:ext>
            </a:extLst>
          </p:cNvPr>
          <p:cNvSpPr/>
          <p:nvPr/>
        </p:nvSpPr>
        <p:spPr>
          <a:xfrm>
            <a:off x="9144000" y="4526280"/>
            <a:ext cx="2286000" cy="274320"/>
          </a:xfrm>
          <a:prstGeom prst="rect">
            <a:avLst/>
          </a:prstGeom>
          <a:noFill/>
          <a:ln/>
        </p:spPr>
        <p:txBody>
          <a:bodyPr wrap="square" rtlCol="0" anchor="ctr"/>
          <a:lstStyle/>
          <a:p>
            <a:pPr marL="0" indent="0" algn="ctr">
              <a:buNone/>
            </a:pPr>
            <a:endParaRPr lang="en-US" sz="850" dirty="0"/>
          </a:p>
        </p:txBody>
      </p:sp>
      <p:sp>
        <p:nvSpPr>
          <p:cNvPr id="86" name="Text 44">
            <a:extLst>
              <a:ext uri="{FF2B5EF4-FFF2-40B4-BE49-F238E27FC236}">
                <a16:creationId xmlns:a16="http://schemas.microsoft.com/office/drawing/2014/main" id="{3B958904-11A3-E4BD-B56F-C4EDCE9561CF}"/>
              </a:ext>
            </a:extLst>
          </p:cNvPr>
          <p:cNvSpPr/>
          <p:nvPr/>
        </p:nvSpPr>
        <p:spPr>
          <a:xfrm>
            <a:off x="9390888" y="4846320"/>
            <a:ext cx="1792224" cy="1417320"/>
          </a:xfrm>
          <a:prstGeom prst="rect">
            <a:avLst/>
          </a:prstGeom>
          <a:noFill/>
          <a:ln/>
        </p:spPr>
        <p:txBody>
          <a:bodyPr wrap="square" rtlCol="0" anchor="ctr"/>
          <a:lstStyle/>
          <a:p>
            <a:pPr marL="0" indent="0" algn="ctr">
              <a:lnSpc>
                <a:spcPct val="95000"/>
              </a:lnSpc>
              <a:buNone/>
            </a:pPr>
            <a:endParaRPr lang="en-US" sz="850" dirty="0"/>
          </a:p>
        </p:txBody>
      </p:sp>
      <p:sp>
        <p:nvSpPr>
          <p:cNvPr id="88" name="Text 45">
            <a:extLst>
              <a:ext uri="{FF2B5EF4-FFF2-40B4-BE49-F238E27FC236}">
                <a16:creationId xmlns:a16="http://schemas.microsoft.com/office/drawing/2014/main" id="{BA52E79A-6FDA-A458-B843-BC119AF11D40}"/>
              </a:ext>
            </a:extLst>
          </p:cNvPr>
          <p:cNvSpPr/>
          <p:nvPr/>
        </p:nvSpPr>
        <p:spPr>
          <a:xfrm>
            <a:off x="9372600" y="4846320"/>
            <a:ext cx="1828800" cy="228600"/>
          </a:xfrm>
          <a:prstGeom prst="rect">
            <a:avLst/>
          </a:prstGeom>
          <a:noFill/>
          <a:ln/>
        </p:spPr>
        <p:txBody>
          <a:bodyPr wrap="square" rtlCol="0" anchor="ctr"/>
          <a:lstStyle/>
          <a:p>
            <a:pPr marL="0" indent="0" algn="ctr">
              <a:buNone/>
            </a:pPr>
            <a:endParaRPr lang="en-US" sz="750" dirty="0"/>
          </a:p>
        </p:txBody>
      </p:sp>
      <p:pic>
        <p:nvPicPr>
          <p:cNvPr id="92" name="Picture 91">
            <a:extLst>
              <a:ext uri="{FF2B5EF4-FFF2-40B4-BE49-F238E27FC236}">
                <a16:creationId xmlns:a16="http://schemas.microsoft.com/office/drawing/2014/main" id="{A75B2D66-ADA8-09C1-BF56-41A147FE57E9}"/>
              </a:ext>
            </a:extLst>
          </p:cNvPr>
          <p:cNvPicPr>
            <a:picLocks noChangeAspect="1"/>
          </p:cNvPicPr>
          <p:nvPr/>
        </p:nvPicPr>
        <p:blipFill>
          <a:blip r:embed="rId5"/>
          <a:stretch>
            <a:fillRect/>
          </a:stretch>
        </p:blipFill>
        <p:spPr>
          <a:xfrm>
            <a:off x="8863009" y="1344770"/>
            <a:ext cx="2768235" cy="2047098"/>
          </a:xfrm>
          <a:prstGeom prst="rect">
            <a:avLst/>
          </a:prstGeom>
        </p:spPr>
      </p:pic>
      <p:pic>
        <p:nvPicPr>
          <p:cNvPr id="94" name="Picture 93">
            <a:extLst>
              <a:ext uri="{FF2B5EF4-FFF2-40B4-BE49-F238E27FC236}">
                <a16:creationId xmlns:a16="http://schemas.microsoft.com/office/drawing/2014/main" id="{C6528684-C036-487D-B6BC-15CD30C74E79}"/>
              </a:ext>
            </a:extLst>
          </p:cNvPr>
          <p:cNvPicPr>
            <a:picLocks noChangeAspect="1"/>
          </p:cNvPicPr>
          <p:nvPr/>
        </p:nvPicPr>
        <p:blipFill>
          <a:blip r:embed="rId6"/>
          <a:stretch>
            <a:fillRect/>
          </a:stretch>
        </p:blipFill>
        <p:spPr>
          <a:xfrm>
            <a:off x="3083051" y="3944484"/>
            <a:ext cx="2885806" cy="1976272"/>
          </a:xfrm>
          <a:prstGeom prst="rect">
            <a:avLst/>
          </a:prstGeom>
        </p:spPr>
      </p:pic>
      <p:pic>
        <p:nvPicPr>
          <p:cNvPr id="96" name="Picture 95">
            <a:extLst>
              <a:ext uri="{FF2B5EF4-FFF2-40B4-BE49-F238E27FC236}">
                <a16:creationId xmlns:a16="http://schemas.microsoft.com/office/drawing/2014/main" id="{B7A457D2-1512-C783-1916-E7BE510EF0B8}"/>
              </a:ext>
            </a:extLst>
          </p:cNvPr>
          <p:cNvPicPr>
            <a:picLocks noChangeAspect="1"/>
          </p:cNvPicPr>
          <p:nvPr/>
        </p:nvPicPr>
        <p:blipFill>
          <a:blip r:embed="rId7"/>
          <a:stretch>
            <a:fillRect/>
          </a:stretch>
        </p:blipFill>
        <p:spPr>
          <a:xfrm>
            <a:off x="8781680" y="3868294"/>
            <a:ext cx="2935291" cy="2064249"/>
          </a:xfrm>
          <a:prstGeom prst="rect">
            <a:avLst/>
          </a:prstGeom>
        </p:spPr>
      </p:pic>
      <p:pic>
        <p:nvPicPr>
          <p:cNvPr id="4" name="Picture 3">
            <a:extLst>
              <a:ext uri="{FF2B5EF4-FFF2-40B4-BE49-F238E27FC236}">
                <a16:creationId xmlns:a16="http://schemas.microsoft.com/office/drawing/2014/main" id="{496CA5F4-894C-F3A6-1468-6762E1D06EA1}"/>
              </a:ext>
            </a:extLst>
          </p:cNvPr>
          <p:cNvPicPr>
            <a:picLocks noChangeAspect="1"/>
          </p:cNvPicPr>
          <p:nvPr/>
        </p:nvPicPr>
        <p:blipFill>
          <a:blip r:embed="rId8"/>
          <a:stretch>
            <a:fillRect/>
          </a:stretch>
        </p:blipFill>
        <p:spPr>
          <a:xfrm>
            <a:off x="3130813" y="1439584"/>
            <a:ext cx="2675627" cy="1771364"/>
          </a:xfrm>
          <a:prstGeom prst="rect">
            <a:avLst/>
          </a:prstGeom>
        </p:spPr>
      </p:pic>
    </p:spTree>
    <p:extLst>
      <p:ext uri="{BB962C8B-B14F-4D97-AF65-F5344CB8AC3E}">
        <p14:creationId xmlns:p14="http://schemas.microsoft.com/office/powerpoint/2010/main" val="2303877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686</Words>
  <Application>Microsoft Office PowerPoint</Application>
  <PresentationFormat>Widescreen</PresentationFormat>
  <Paragraphs>60</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Tahoma</vt:lpstr>
      <vt:lpstr>Times New Roman</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Trung Kien</dc:creator>
  <cp:lastModifiedBy>Trung Kien</cp:lastModifiedBy>
  <cp:revision>1</cp:revision>
  <dcterms:created xsi:type="dcterms:W3CDTF">2026-09-21T09:29:45Z</dcterms:created>
  <dcterms:modified xsi:type="dcterms:W3CDTF">2026-09-21T09:31:07Z</dcterms:modified>
</cp:coreProperties>
</file>